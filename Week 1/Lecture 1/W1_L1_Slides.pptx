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loud briefly. Tell students we'll circle back to this exact list at the end so they can self-check what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objectives — everything students will do hands-on today, not just discuss conceptually.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warms the room up and gives you a read on prior exposure, even though everyone was told to expect zero prior experience. Keep it to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high level — no need to explain terms yet, just names, so students recognize them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something every student already knows: using a website or app. Ask the class: 'When you tap Order Now, what has to happen before you see Order confirmed?' Let a few guess before the next slide's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mental model for the whole course. Narrate each numbered step out loud: 1) client sends an HTTP request, 2) server runs logic and queries the database, 3) server sends an HTTP response, 4) browser renders it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term as it appears. This is the launch point for the deep-dive that follows (2.3-2.7) before returning to what a backend does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have heard 'server' used loosely — nail down the two meanings they'll hear used interchangeably, then connect it to the uvicorn command they'll run later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literally what happened when students ran uvicorn earlier today — make that connection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Deepen the one-line definition from the vocabulary slide into something students can actually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only need to recognize these names today — REST is the one to actually learn in depth, starting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HyperText Transfer Protocol — the language client and server use to talk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URL down piece by piece on the board. Then: locally, on 127.0.0.1:8000, plain HTTP is fine — the request never leaves your machine. In production, HTTPS is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PUT, and DELETE are idempotent — doing them twice has the same effect as once. POST is not. A term to recognize, not master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client-server diagram: every response a browser has ever received carried one of these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browser's dev tools Network tab shows this on every request, if students want to see it live sometime.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example per bullet keeps this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architecture as 'how we organize backend code into layers/services,' conceptually only — deep architecture patterns come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beginners: 'You will build monoliths for a long time before you need microservices. Every microservice is, individually, still just a small backend app like the ones you're about to learn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the ecosystem so it's not a surprise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only programming experience, if any, is a notebook or online editor. Set expectations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beginner snag: on macOS/Linux, 'python' may not exist or may point to Python 2 — use python3 and pip3. On Windows, the official installer's 'python' command works directly. Address this proactively.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 students genuinely don't have intuition for yet — motivate it with the scenario before naming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this end to end before turning students loose on Exercise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pip in concrete, familiar names before showing the install commands. Point out that several of these are previews of packages used later in the course, so students recognize them when they reappear.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requirements.txt is how a teammate — or you, on another machine — recreates the exact same environment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3.1–3.6 together into one repeatable checklist. Write it somewhere students can screenshot — it's the single most reusable thing from today's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framing narrow: don't unpack @app.get('/') today — that's a decorator, explained properly next lecture. Today's win is entirely procedural: install, write, run, see it respond. Say this out loud so nobody feels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individually, walk around and help. Part A (~10 min) is the same venv+pip workflow as before. Part B (~15 min) is brand new — students reactivate their venv, install fastapi/uvicorn, write main.py, and run their first server. Give a clear verbal signal when the room should move from Part A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have been writing modules all day without knowing the word. That's the reveal for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to teach: there's no single 'correct' choice — it depends on context and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ships with a huge standard library — no pip install needed. Demo a few of these live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modern Python (3.3+), a plain folder of .py files is already importable, but __init__.py is still the common, explicit convention worth teaching — students will see it everywhere, including FastAPI in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this so today's Exercise 2 feels purposeful rather than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inside the backend-course folder from Exercise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Learning Objectives slide first and let students self-check with a show of hands on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141A47"/>
          </a:solidFill>
          <a:ln/>
        </p:spPr>
      </p:sp>
      <p:sp>
        <p:nvSpPr>
          <p:cNvPr id="3" name="Shape 1"/>
          <p:cNvSpPr/>
          <p:nvPr/>
        </p:nvSpPr>
        <p:spPr>
          <a:xfrm>
            <a:off x="-1645920" y="4572000"/>
            <a:ext cx="3657600" cy="3657600"/>
          </a:xfrm>
          <a:prstGeom prst="ellipse">
            <a:avLst/>
          </a:prstGeom>
          <a:solidFill>
            <a:srgbClr val="141A47"/>
          </a:solidFill>
          <a:ln/>
        </p:spPr>
      </p:sp>
      <p:sp>
        <p:nvSpPr>
          <p:cNvPr id="4" name="Text 2"/>
          <p:cNvSpPr txBox="1"/>
          <p:nvPr/>
        </p:nvSpPr>
        <p:spPr>
          <a:xfrm>
            <a:off x="548640" y="1737360"/>
            <a:ext cx="9144000" cy="457200"/>
          </a:xfrm>
          <a:prstGeom prst="rect">
            <a:avLst/>
          </a:prstGeom>
          <a:noFill/>
          <a:ln/>
        </p:spPr>
        <p:txBody>
          <a:bodyPr wrap="square" lIns="0" tIns="0" rIns="0" bIns="0" rtlCol="0" anchor="ctr"/>
          <a:lstStyle/>
          <a:p>
            <a:pPr indent="0" marL="0">
              <a:buNone/>
            </a:pPr>
            <a:r>
              <a:rPr lang="en-US" sz="1500" b="1" spc="300" kern="0" dirty="0">
                <a:solidFill>
                  <a:srgbClr val="E8A33D"/>
                </a:solidFill>
                <a:latin typeface="Calibri" pitchFamily="34" charset="0"/>
                <a:ea typeface="Calibri" pitchFamily="34" charset="-122"/>
                <a:cs typeface="Calibri" pitchFamily="34" charset="-120"/>
              </a:rPr>
              <a:t>BACKEND DEVELOPMENT COURSE · WEEK 1 · LECTURE 1</a:t>
            </a:r>
            <a:endParaRPr lang="en-US" sz="1500" dirty="0"/>
          </a:p>
        </p:txBody>
      </p:sp>
      <p:sp>
        <p:nvSpPr>
          <p:cNvPr id="5" name="Text 3"/>
          <p:cNvSpPr txBox="1"/>
          <p:nvPr/>
        </p:nvSpPr>
        <p:spPr>
          <a:xfrm>
            <a:off x="548640" y="2148840"/>
            <a:ext cx="10515600" cy="15544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Python Backend Fundamentals</a:t>
            </a:r>
            <a:endParaRPr lang="en-US" sz="5400" dirty="0"/>
          </a:p>
        </p:txBody>
      </p:sp>
      <p:sp>
        <p:nvSpPr>
          <p:cNvPr id="6" name="Text 4"/>
          <p:cNvSpPr txBox="1"/>
          <p:nvPr/>
        </p:nvSpPr>
        <p:spPr>
          <a:xfrm>
            <a:off x="548640" y="3520440"/>
            <a:ext cx="10058400" cy="822960"/>
          </a:xfrm>
          <a:prstGeom prst="rect">
            <a:avLst/>
          </a:prstGeom>
          <a:noFill/>
          <a:ln/>
        </p:spPr>
        <p:txBody>
          <a:bodyPr wrap="square" lIns="0" tIns="0" rIns="0" bIns="0" rtlCol="0" anchor="ctr"/>
          <a:lstStyle/>
          <a:p>
            <a:pPr indent="0" marL="0">
              <a:buNone/>
            </a:pPr>
            <a:r>
              <a:rPr lang="en-US" sz="2400" dirty="0">
                <a:solidFill>
                  <a:srgbClr val="CADCFC"/>
                </a:solidFill>
                <a:latin typeface="Calibri" pitchFamily="34" charset="0"/>
                <a:ea typeface="Calibri" pitchFamily="34" charset="-122"/>
                <a:cs typeface="Calibri" pitchFamily="34" charset="-120"/>
              </a:rPr>
              <a:t>Backend architecture · Python environment · modules, packages &amp; virtual environments</a:t>
            </a:r>
            <a:endParaRPr lang="en-US" sz="2400" dirty="0"/>
          </a:p>
        </p:txBody>
      </p:sp>
      <p:sp>
        <p:nvSpPr>
          <p:cNvPr id="7" name="Shape 5"/>
          <p:cNvSpPr/>
          <p:nvPr/>
        </p:nvSpPr>
        <p:spPr>
          <a:xfrm>
            <a:off x="548640" y="4343400"/>
            <a:ext cx="2011680" cy="0"/>
          </a:xfrm>
          <a:prstGeom prst="line">
            <a:avLst/>
          </a:prstGeom>
          <a:noFill/>
          <a:ln w="38100">
            <a:solidFill>
              <a:srgbClr val="E8A33D"/>
            </a:solidFill>
            <a:prstDash val="solid"/>
          </a:ln>
        </p:spPr>
      </p:sp>
      <p:sp>
        <p:nvSpPr>
          <p:cNvPr id="8" name="Text 6"/>
          <p:cNvSpPr txBox="1"/>
          <p:nvPr/>
        </p:nvSpPr>
        <p:spPr>
          <a:xfrm>
            <a:off x="548640" y="4572000"/>
            <a:ext cx="9601200" cy="457200"/>
          </a:xfrm>
          <a:prstGeom prst="rect">
            <a:avLst/>
          </a:prstGeom>
          <a:noFill/>
          <a:ln/>
        </p:spPr>
        <p:txBody>
          <a:bodyPr wrap="square" lIns="0" tIns="0" rIns="0" bIns="0" rtlCol="0" anchor="ctr"/>
          <a:lstStyle/>
          <a:p>
            <a:pPr indent="0" marL="0">
              <a:buNone/>
            </a:pPr>
            <a:r>
              <a:rPr lang="en-US" sz="1400" dirty="0">
                <a:solidFill>
                  <a:srgbClr val="9AA6C9"/>
                </a:solidFill>
                <a:latin typeface="Calibri" pitchFamily="34" charset="0"/>
                <a:ea typeface="Calibri" pitchFamily="34" charset="-122"/>
                <a:cs typeface="Calibri" pitchFamily="34" charset="-120"/>
              </a:rPr>
              <a:t>Duration: 3 hours   |   Audience: complete beginners   |   Lecture + hands-on exercises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TODAY'S SESSION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Lecture at a Glance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828800"/>
            <a:ext cx="11091672" cy="457200"/>
          </a:xfrm>
          <a:prstGeom prst="rect">
            <a:avLst/>
          </a:prstGeom>
          <a:solidFill>
            <a:srgbClr val="F4F6FB"/>
          </a:solidFill>
          <a:ln/>
        </p:spPr>
      </p:sp>
      <p:sp>
        <p:nvSpPr>
          <p:cNvPr id="6" name="Text 4"/>
          <p:cNvSpPr txBox="1"/>
          <p:nvPr/>
        </p:nvSpPr>
        <p:spPr>
          <a:xfrm>
            <a:off x="685800" y="18288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0:00 – 0:15</a:t>
            </a:r>
            <a:endParaRPr lang="en-US" sz="1300" dirty="0"/>
          </a:p>
        </p:txBody>
      </p:sp>
      <p:sp>
        <p:nvSpPr>
          <p:cNvPr id="7" name="Text 5"/>
          <p:cNvSpPr txBox="1"/>
          <p:nvPr/>
        </p:nvSpPr>
        <p:spPr>
          <a:xfrm>
            <a:off x="2286000" y="18288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15 min</a:t>
            </a:r>
            <a:endParaRPr lang="en-US" sz="1200" dirty="0"/>
          </a:p>
        </p:txBody>
      </p:sp>
      <p:sp>
        <p:nvSpPr>
          <p:cNvPr id="8" name="Text 6"/>
          <p:cNvSpPr txBox="1"/>
          <p:nvPr/>
        </p:nvSpPr>
        <p:spPr>
          <a:xfrm>
            <a:off x="3474720" y="18288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Welcome &amp; course roadmap</a:t>
            </a:r>
            <a:endParaRPr lang="en-US" sz="1400" dirty="0"/>
          </a:p>
        </p:txBody>
      </p:sp>
      <p:sp>
        <p:nvSpPr>
          <p:cNvPr id="9" name="Shape 7"/>
          <p:cNvSpPr/>
          <p:nvPr/>
        </p:nvSpPr>
        <p:spPr>
          <a:xfrm>
            <a:off x="548640" y="2286000"/>
            <a:ext cx="11091672" cy="457200"/>
          </a:xfrm>
          <a:prstGeom prst="rect">
            <a:avLst/>
          </a:prstGeom>
          <a:solidFill>
            <a:srgbClr val="FFFFFF"/>
          </a:solidFill>
          <a:ln/>
        </p:spPr>
      </p:sp>
      <p:sp>
        <p:nvSpPr>
          <p:cNvPr id="10" name="Text 8"/>
          <p:cNvSpPr txBox="1"/>
          <p:nvPr/>
        </p:nvSpPr>
        <p:spPr>
          <a:xfrm>
            <a:off x="685800" y="22860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0:15 – 1:23</a:t>
            </a:r>
            <a:endParaRPr lang="en-US" sz="1300" dirty="0"/>
          </a:p>
        </p:txBody>
      </p:sp>
      <p:sp>
        <p:nvSpPr>
          <p:cNvPr id="11" name="Text 9"/>
          <p:cNvSpPr txBox="1"/>
          <p:nvPr/>
        </p:nvSpPr>
        <p:spPr>
          <a:xfrm>
            <a:off x="2286000" y="22860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68 min</a:t>
            </a:r>
            <a:endParaRPr lang="en-US" sz="1200" dirty="0"/>
          </a:p>
        </p:txBody>
      </p:sp>
      <p:sp>
        <p:nvSpPr>
          <p:cNvPr id="12" name="Text 10"/>
          <p:cNvSpPr txBox="1"/>
          <p:nvPr/>
        </p:nvSpPr>
        <p:spPr>
          <a:xfrm>
            <a:off x="3474720" y="22860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What is backend development? (server, APIs, HTTP/HTTPS, methods, status codes, architecture)</a:t>
            </a:r>
            <a:endParaRPr lang="en-US" sz="1400" dirty="0"/>
          </a:p>
        </p:txBody>
      </p:sp>
      <p:sp>
        <p:nvSpPr>
          <p:cNvPr id="13" name="Shape 11"/>
          <p:cNvSpPr/>
          <p:nvPr/>
        </p:nvSpPr>
        <p:spPr>
          <a:xfrm>
            <a:off x="548640" y="2743200"/>
            <a:ext cx="11091672" cy="457200"/>
          </a:xfrm>
          <a:prstGeom prst="rect">
            <a:avLst/>
          </a:prstGeom>
          <a:solidFill>
            <a:srgbClr val="F4F6FB"/>
          </a:solidFill>
          <a:ln/>
        </p:spPr>
      </p:sp>
      <p:sp>
        <p:nvSpPr>
          <p:cNvPr id="14" name="Text 12"/>
          <p:cNvSpPr txBox="1"/>
          <p:nvPr/>
        </p:nvSpPr>
        <p:spPr>
          <a:xfrm>
            <a:off x="685800" y="27432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1:23 – 1:33</a:t>
            </a:r>
            <a:endParaRPr lang="en-US" sz="1300" dirty="0"/>
          </a:p>
        </p:txBody>
      </p:sp>
      <p:sp>
        <p:nvSpPr>
          <p:cNvPr id="15" name="Text 13"/>
          <p:cNvSpPr txBox="1"/>
          <p:nvPr/>
        </p:nvSpPr>
        <p:spPr>
          <a:xfrm>
            <a:off x="2286000" y="27432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10 min</a:t>
            </a:r>
            <a:endParaRPr lang="en-US" sz="1200" dirty="0"/>
          </a:p>
        </p:txBody>
      </p:sp>
      <p:sp>
        <p:nvSpPr>
          <p:cNvPr id="16" name="Text 14"/>
          <p:cNvSpPr txBox="1"/>
          <p:nvPr/>
        </p:nvSpPr>
        <p:spPr>
          <a:xfrm>
            <a:off x="3474720" y="27432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Break</a:t>
            </a:r>
            <a:endParaRPr lang="en-US" sz="1400" dirty="0"/>
          </a:p>
        </p:txBody>
      </p:sp>
      <p:sp>
        <p:nvSpPr>
          <p:cNvPr id="17" name="Shape 15"/>
          <p:cNvSpPr/>
          <p:nvPr/>
        </p:nvSpPr>
        <p:spPr>
          <a:xfrm>
            <a:off x="548640" y="3200400"/>
            <a:ext cx="11091672" cy="457200"/>
          </a:xfrm>
          <a:prstGeom prst="rect">
            <a:avLst/>
          </a:prstGeom>
          <a:solidFill>
            <a:srgbClr val="FFFFFF"/>
          </a:solidFill>
          <a:ln/>
        </p:spPr>
      </p:sp>
      <p:sp>
        <p:nvSpPr>
          <p:cNvPr id="18" name="Text 16"/>
          <p:cNvSpPr txBox="1"/>
          <p:nvPr/>
        </p:nvSpPr>
        <p:spPr>
          <a:xfrm>
            <a:off x="685800" y="32004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1:33 – 2:14</a:t>
            </a:r>
            <a:endParaRPr lang="en-US" sz="1300" dirty="0"/>
          </a:p>
        </p:txBody>
      </p:sp>
      <p:sp>
        <p:nvSpPr>
          <p:cNvPr id="19" name="Text 17"/>
          <p:cNvSpPr txBox="1"/>
          <p:nvPr/>
        </p:nvSpPr>
        <p:spPr>
          <a:xfrm>
            <a:off x="2286000" y="32004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41 min</a:t>
            </a:r>
            <a:endParaRPr lang="en-US" sz="1200" dirty="0"/>
          </a:p>
        </p:txBody>
      </p:sp>
      <p:sp>
        <p:nvSpPr>
          <p:cNvPr id="20" name="Text 18"/>
          <p:cNvSpPr txBox="1"/>
          <p:nvPr/>
        </p:nvSpPr>
        <p:spPr>
          <a:xfrm>
            <a:off x="3474720" y="32004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Python environment, starting a new project &amp; your first FastAPI app</a:t>
            </a:r>
            <a:endParaRPr lang="en-US" sz="1400" dirty="0"/>
          </a:p>
        </p:txBody>
      </p:sp>
      <p:sp>
        <p:nvSpPr>
          <p:cNvPr id="21" name="Shape 19"/>
          <p:cNvSpPr/>
          <p:nvPr/>
        </p:nvSpPr>
        <p:spPr>
          <a:xfrm>
            <a:off x="548640" y="3657600"/>
            <a:ext cx="11091672" cy="457200"/>
          </a:xfrm>
          <a:prstGeom prst="rect">
            <a:avLst/>
          </a:prstGeom>
          <a:solidFill>
            <a:srgbClr val="F4F6FB"/>
          </a:solidFill>
          <a:ln/>
        </p:spPr>
      </p:sp>
      <p:sp>
        <p:nvSpPr>
          <p:cNvPr id="22" name="Text 20"/>
          <p:cNvSpPr txBox="1"/>
          <p:nvPr/>
        </p:nvSpPr>
        <p:spPr>
          <a:xfrm>
            <a:off x="685800" y="36576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2:14 – 2:39</a:t>
            </a:r>
            <a:endParaRPr lang="en-US" sz="1300" dirty="0"/>
          </a:p>
        </p:txBody>
      </p:sp>
      <p:sp>
        <p:nvSpPr>
          <p:cNvPr id="23" name="Text 21"/>
          <p:cNvSpPr txBox="1"/>
          <p:nvPr/>
        </p:nvSpPr>
        <p:spPr>
          <a:xfrm>
            <a:off x="2286000" y="36576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25 min</a:t>
            </a:r>
            <a:endParaRPr lang="en-US" sz="1200" dirty="0"/>
          </a:p>
        </p:txBody>
      </p:sp>
      <p:sp>
        <p:nvSpPr>
          <p:cNvPr id="24" name="Text 22"/>
          <p:cNvSpPr txBox="1"/>
          <p:nvPr/>
        </p:nvSpPr>
        <p:spPr>
          <a:xfrm>
            <a:off x="3474720" y="36576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Exercise 1 — hands-on: venv + pip + your first FastAPI project</a:t>
            </a:r>
            <a:endParaRPr lang="en-US" sz="1400" dirty="0"/>
          </a:p>
        </p:txBody>
      </p:sp>
      <p:sp>
        <p:nvSpPr>
          <p:cNvPr id="25" name="Shape 23"/>
          <p:cNvSpPr/>
          <p:nvPr/>
        </p:nvSpPr>
        <p:spPr>
          <a:xfrm>
            <a:off x="548640" y="4114800"/>
            <a:ext cx="11091672" cy="457200"/>
          </a:xfrm>
          <a:prstGeom prst="rect">
            <a:avLst/>
          </a:prstGeom>
          <a:solidFill>
            <a:srgbClr val="FFFFFF"/>
          </a:solidFill>
          <a:ln/>
        </p:spPr>
      </p:sp>
      <p:sp>
        <p:nvSpPr>
          <p:cNvPr id="26" name="Text 24"/>
          <p:cNvSpPr txBox="1"/>
          <p:nvPr/>
        </p:nvSpPr>
        <p:spPr>
          <a:xfrm>
            <a:off x="685800" y="41148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2:39 – 2:49</a:t>
            </a:r>
            <a:endParaRPr lang="en-US" sz="1300" dirty="0"/>
          </a:p>
        </p:txBody>
      </p:sp>
      <p:sp>
        <p:nvSpPr>
          <p:cNvPr id="27" name="Text 25"/>
          <p:cNvSpPr txBox="1"/>
          <p:nvPr/>
        </p:nvSpPr>
        <p:spPr>
          <a:xfrm>
            <a:off x="2286000" y="41148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10 min</a:t>
            </a:r>
            <a:endParaRPr lang="en-US" sz="1200" dirty="0"/>
          </a:p>
        </p:txBody>
      </p:sp>
      <p:sp>
        <p:nvSpPr>
          <p:cNvPr id="28" name="Text 26"/>
          <p:cNvSpPr txBox="1"/>
          <p:nvPr/>
        </p:nvSpPr>
        <p:spPr>
          <a:xfrm>
            <a:off x="3474720" y="41148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Break</a:t>
            </a:r>
            <a:endParaRPr lang="en-US" sz="1400" dirty="0"/>
          </a:p>
        </p:txBody>
      </p:sp>
      <p:sp>
        <p:nvSpPr>
          <p:cNvPr id="29" name="Shape 27"/>
          <p:cNvSpPr/>
          <p:nvPr/>
        </p:nvSpPr>
        <p:spPr>
          <a:xfrm>
            <a:off x="548640" y="4572000"/>
            <a:ext cx="11091672" cy="457200"/>
          </a:xfrm>
          <a:prstGeom prst="rect">
            <a:avLst/>
          </a:prstGeom>
          <a:solidFill>
            <a:srgbClr val="F4F6FB"/>
          </a:solidFill>
          <a:ln/>
        </p:spPr>
      </p:sp>
      <p:sp>
        <p:nvSpPr>
          <p:cNvPr id="30" name="Text 28"/>
          <p:cNvSpPr txBox="1"/>
          <p:nvPr/>
        </p:nvSpPr>
        <p:spPr>
          <a:xfrm>
            <a:off x="685800" y="45720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2:49 – 3:19</a:t>
            </a:r>
            <a:endParaRPr lang="en-US" sz="1300" dirty="0"/>
          </a:p>
        </p:txBody>
      </p:sp>
      <p:sp>
        <p:nvSpPr>
          <p:cNvPr id="31" name="Text 29"/>
          <p:cNvSpPr txBox="1"/>
          <p:nvPr/>
        </p:nvSpPr>
        <p:spPr>
          <a:xfrm>
            <a:off x="2286000" y="45720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30 min</a:t>
            </a:r>
            <a:endParaRPr lang="en-US" sz="1200" dirty="0"/>
          </a:p>
        </p:txBody>
      </p:sp>
      <p:sp>
        <p:nvSpPr>
          <p:cNvPr id="32" name="Text 30"/>
          <p:cNvSpPr txBox="1"/>
          <p:nvPr/>
        </p:nvSpPr>
        <p:spPr>
          <a:xfrm>
            <a:off x="3474720" y="45720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Modules and packages</a:t>
            </a:r>
            <a:endParaRPr lang="en-US" sz="1400" dirty="0"/>
          </a:p>
        </p:txBody>
      </p:sp>
      <p:sp>
        <p:nvSpPr>
          <p:cNvPr id="33" name="Shape 31"/>
          <p:cNvSpPr/>
          <p:nvPr/>
        </p:nvSpPr>
        <p:spPr>
          <a:xfrm>
            <a:off x="548640" y="5029200"/>
            <a:ext cx="11091672" cy="457200"/>
          </a:xfrm>
          <a:prstGeom prst="rect">
            <a:avLst/>
          </a:prstGeom>
          <a:solidFill>
            <a:srgbClr val="FFFFFF"/>
          </a:solidFill>
          <a:ln/>
        </p:spPr>
      </p:sp>
      <p:sp>
        <p:nvSpPr>
          <p:cNvPr id="34" name="Text 32"/>
          <p:cNvSpPr txBox="1"/>
          <p:nvPr/>
        </p:nvSpPr>
        <p:spPr>
          <a:xfrm>
            <a:off x="685800" y="50292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3:19 – 3:34</a:t>
            </a:r>
            <a:endParaRPr lang="en-US" sz="1300" dirty="0"/>
          </a:p>
        </p:txBody>
      </p:sp>
      <p:sp>
        <p:nvSpPr>
          <p:cNvPr id="35" name="Text 33"/>
          <p:cNvSpPr txBox="1"/>
          <p:nvPr/>
        </p:nvSpPr>
        <p:spPr>
          <a:xfrm>
            <a:off x="2286000" y="50292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15 min</a:t>
            </a:r>
            <a:endParaRPr lang="en-US" sz="1200" dirty="0"/>
          </a:p>
        </p:txBody>
      </p:sp>
      <p:sp>
        <p:nvSpPr>
          <p:cNvPr id="36" name="Text 34"/>
          <p:cNvSpPr txBox="1"/>
          <p:nvPr/>
        </p:nvSpPr>
        <p:spPr>
          <a:xfrm>
            <a:off x="3474720" y="50292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Exercise 2 — hands-on: build a mini package</a:t>
            </a:r>
            <a:endParaRPr lang="en-US" sz="1400" dirty="0"/>
          </a:p>
        </p:txBody>
      </p:sp>
      <p:sp>
        <p:nvSpPr>
          <p:cNvPr id="37" name="Shape 35"/>
          <p:cNvSpPr/>
          <p:nvPr/>
        </p:nvSpPr>
        <p:spPr>
          <a:xfrm>
            <a:off x="548640" y="5486400"/>
            <a:ext cx="11091672" cy="457200"/>
          </a:xfrm>
          <a:prstGeom prst="rect">
            <a:avLst/>
          </a:prstGeom>
          <a:solidFill>
            <a:srgbClr val="F4F6FB"/>
          </a:solidFill>
          <a:ln/>
        </p:spPr>
      </p:sp>
      <p:sp>
        <p:nvSpPr>
          <p:cNvPr id="38" name="Text 36"/>
          <p:cNvSpPr txBox="1"/>
          <p:nvPr/>
        </p:nvSpPr>
        <p:spPr>
          <a:xfrm>
            <a:off x="685800" y="5486400"/>
            <a:ext cx="1554480" cy="457200"/>
          </a:xfrm>
          <a:prstGeom prst="rect">
            <a:avLst/>
          </a:prstGeom>
          <a:noFill/>
          <a:ln/>
        </p:spPr>
        <p:txBody>
          <a:bodyPr wrap="square" lIns="0" tIns="0" rIns="0" bIns="0" rtlCol="0" anchor="ctr"/>
          <a:lstStyle/>
          <a:p>
            <a:pPr indent="0" marL="0">
              <a:buNone/>
            </a:pPr>
            <a:r>
              <a:rPr lang="en-US" sz="1300" b="1" dirty="0">
                <a:solidFill>
                  <a:srgbClr val="1E2761"/>
                </a:solidFill>
                <a:latin typeface="Consolas" pitchFamily="34" charset="0"/>
                <a:ea typeface="Consolas" pitchFamily="34" charset="-122"/>
                <a:cs typeface="Consolas" pitchFamily="34" charset="-120"/>
              </a:rPr>
              <a:t>3:34 – 3:49</a:t>
            </a:r>
            <a:endParaRPr lang="en-US" sz="1300" dirty="0"/>
          </a:p>
        </p:txBody>
      </p:sp>
      <p:sp>
        <p:nvSpPr>
          <p:cNvPr id="39" name="Text 37"/>
          <p:cNvSpPr txBox="1"/>
          <p:nvPr/>
        </p:nvSpPr>
        <p:spPr>
          <a:xfrm>
            <a:off x="2286000" y="5486400"/>
            <a:ext cx="109728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15 min</a:t>
            </a:r>
            <a:endParaRPr lang="en-US" sz="1200" dirty="0"/>
          </a:p>
        </p:txBody>
      </p:sp>
      <p:sp>
        <p:nvSpPr>
          <p:cNvPr id="40" name="Text 38"/>
          <p:cNvSpPr txBox="1"/>
          <p:nvPr/>
        </p:nvSpPr>
        <p:spPr>
          <a:xfrm>
            <a:off x="3474720" y="5486400"/>
            <a:ext cx="8028432" cy="457200"/>
          </a:xfrm>
          <a:prstGeom prst="rect">
            <a:avLst/>
          </a:prstGeom>
          <a:noFill/>
          <a:ln/>
        </p:spPr>
        <p:txBody>
          <a:bodyPr wrap="square" lIns="0" tIns="0" rIns="0" bIns="0" rtlCol="0" anchor="ctr"/>
          <a:lstStyle/>
          <a:p>
            <a:pPr indent="0" marL="0">
              <a:buNone/>
            </a:pPr>
            <a:r>
              <a:rPr lang="en-US" sz="1400" dirty="0">
                <a:solidFill>
                  <a:srgbClr val="26314D"/>
                </a:solidFill>
                <a:latin typeface="Calibri" pitchFamily="34" charset="0"/>
                <a:ea typeface="Calibri" pitchFamily="34" charset="-122"/>
                <a:cs typeface="Calibri" pitchFamily="34" charset="-120"/>
              </a:rPr>
              <a:t>Recap, Q&amp;A, and what's next</a:t>
            </a:r>
            <a:endParaRPr lang="en-US" sz="1400" dirty="0"/>
          </a:p>
        </p:txBody>
      </p:sp>
      <p:sp>
        <p:nvSpPr>
          <p:cNvPr id="41" name="Shape 39"/>
          <p:cNvSpPr/>
          <p:nvPr/>
        </p:nvSpPr>
        <p:spPr>
          <a:xfrm>
            <a:off x="548640" y="6053328"/>
            <a:ext cx="11091672" cy="457200"/>
          </a:xfrm>
          <a:prstGeom prst="roundRect">
            <a:avLst>
              <a:gd name="adj" fmla="val 12000"/>
            </a:avLst>
          </a:prstGeom>
          <a:solidFill>
            <a:srgbClr val="FFF7E6"/>
          </a:solidFill>
          <a:ln/>
        </p:spPr>
      </p:sp>
      <p:sp>
        <p:nvSpPr>
          <p:cNvPr id="42" name="Shape 40"/>
          <p:cNvSpPr/>
          <p:nvPr/>
        </p:nvSpPr>
        <p:spPr>
          <a:xfrm>
            <a:off x="548640" y="6053328"/>
            <a:ext cx="64008" cy="457200"/>
          </a:xfrm>
          <a:prstGeom prst="rect">
            <a:avLst/>
          </a:prstGeom>
          <a:solidFill>
            <a:srgbClr val="E8A33D"/>
          </a:solidFill>
          <a:ln/>
        </p:spPr>
      </p:sp>
      <p:sp>
        <p:nvSpPr>
          <p:cNvPr id="43" name="Text 41"/>
          <p:cNvSpPr txBox="1"/>
          <p:nvPr/>
        </p:nvSpPr>
        <p:spPr>
          <a:xfrm>
            <a:off x="777240" y="6053328"/>
            <a:ext cx="10634472" cy="457200"/>
          </a:xfrm>
          <a:prstGeom prst="rect">
            <a:avLst/>
          </a:prstGeom>
          <a:noFill/>
          <a:ln/>
        </p:spPr>
        <p:txBody>
          <a:bodyPr wrap="square" lIns="0" tIns="0" rIns="0" bIns="0" rtlCol="0" anchor="ctr"/>
          <a:lstStyle/>
          <a:p>
            <a:pPr indent="0" marL="0">
              <a:buNone/>
            </a:pPr>
            <a:r>
              <a:rPr lang="en-US" sz="1150" dirty="0">
                <a:solidFill>
                  <a:srgbClr val="26314D"/>
                </a:solidFill>
                <a:latin typeface="Calibri" pitchFamily="34" charset="0"/>
                <a:ea typeface="Calibri" pitchFamily="34" charset="-122"/>
                <a:cs typeface="Calibri" pitchFamily="34" charset="-120"/>
              </a:rPr>
              <a:t>Running long? This plan is ~49 min over a 3-hour slot (the 2.3–2.7 deep-dive) — see the notes doc for exactly what to trim first.</a:t>
            </a:r>
            <a:endParaRPr lang="en-US" sz="1150" dirty="0"/>
          </a:p>
        </p:txBody>
      </p:sp>
      <p:sp>
        <p:nvSpPr>
          <p:cNvPr id="44" name="Text 4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BEFORE WE START  ·  1 OF 2</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Learning Objectives — Web &amp; Backend Concepts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Explain what backend development is and how it fits into a full web application</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Describe the client–server model and trace a request from browser to server and back</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Explain what a server is, in both the hardware and software sense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Explain what an API is, name the main types of APIs, and say why this course focuses on REST</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Explain HTTP vs. HTTPS, break down the parts of a URL, and say why HTTPS matters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Name the five common HTTP request methods and what each is for</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Read an HTTP status code and identify its category (2xx/3xx/4xx/5xx)</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Compare monolithic and microservices architectures at a beginner level</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BEFORE WE START  ·  2 OF 2</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Learning Objectives — Hands-On Skills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Set up a working Python environment, including a virtual environment, from the command line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Install and manage third-party packages with pip and requirements.txt</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Explain what a module and a package are, and organize code across multiple files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Import built-in modules and write and import their own custom module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Scaffold, run, and explore a brand-new FastAPI project from the command line</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4206240"/>
            <a:ext cx="3291840" cy="3291840"/>
          </a:xfrm>
          <a:prstGeom prst="ellipse">
            <a:avLst/>
          </a:prstGeom>
          <a:solidFill>
            <a:srgbClr val="141A47"/>
          </a:solidFill>
          <a:ln/>
        </p:spPr>
      </p:sp>
      <p:sp>
        <p:nvSpPr>
          <p:cNvPr id="3" name="Text 1"/>
          <p:cNvSpPr txBox="1"/>
          <p:nvPr/>
        </p:nvSpPr>
        <p:spPr>
          <a:xfrm>
            <a:off x="548640" y="822960"/>
            <a:ext cx="2743200" cy="1463040"/>
          </a:xfrm>
          <a:prstGeom prst="rect">
            <a:avLst/>
          </a:prstGeom>
          <a:noFill/>
          <a:ln/>
        </p:spPr>
        <p:txBody>
          <a:bodyPr wrap="square" lIns="0" tIns="0" rIns="0" bIns="0" rtlCol="0" anchor="ctr"/>
          <a:lstStyle/>
          <a:p>
            <a:pPr indent="0" marL="0">
              <a:buNone/>
            </a:pPr>
            <a:r>
              <a:rPr lang="en-US" sz="9000" b="1" dirty="0">
                <a:solidFill>
                  <a:srgbClr val="141A47"/>
                </a:solidFill>
                <a:latin typeface="Cambria" pitchFamily="34" charset="0"/>
                <a:ea typeface="Cambria" pitchFamily="34" charset="-122"/>
                <a:cs typeface="Cambria" pitchFamily="34" charset="-120"/>
              </a:rPr>
              <a:t>1</a:t>
            </a:r>
            <a:endParaRPr lang="en-US" sz="9000" dirty="0"/>
          </a:p>
        </p:txBody>
      </p:sp>
      <p:sp>
        <p:nvSpPr>
          <p:cNvPr id="4" name="Text 2"/>
          <p:cNvSpPr txBox="1"/>
          <p:nvPr/>
        </p:nvSpPr>
        <p:spPr>
          <a:xfrm>
            <a:off x="54864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Welcome &amp; Course Roadmap</a:t>
            </a:r>
            <a:endParaRPr lang="en-US" sz="4000" dirty="0"/>
          </a:p>
        </p:txBody>
      </p:sp>
      <p:sp>
        <p:nvSpPr>
          <p:cNvPr id="5" name="Shape 3"/>
          <p:cNvSpPr/>
          <p:nvPr/>
        </p:nvSpPr>
        <p:spPr>
          <a:xfrm>
            <a:off x="548640" y="3520440"/>
            <a:ext cx="3291840" cy="502920"/>
          </a:xfrm>
          <a:prstGeom prst="rect">
            <a:avLst/>
          </a:prstGeom>
          <a:solidFill>
            <a:srgbClr val="E8A33D"/>
          </a:solidFill>
          <a:ln/>
        </p:spPr>
      </p:sp>
      <p:sp>
        <p:nvSpPr>
          <p:cNvPr id="6" name="Text 4"/>
          <p:cNvSpPr txBox="1"/>
          <p:nvPr/>
        </p:nvSpPr>
        <p:spPr>
          <a:xfrm>
            <a:off x="548640" y="3520440"/>
            <a:ext cx="3291840" cy="50292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0:00 – 0:15   •   15 MIN</a:t>
            </a:r>
            <a:endParaRPr lang="en-US" sz="1400" dirty="0"/>
          </a:p>
        </p:txBody>
      </p:sp>
      <p:sp>
        <p:nvSpPr>
          <p:cNvPr id="7" name="Shape 5"/>
          <p:cNvSpPr/>
          <p:nvPr/>
        </p:nvSpPr>
        <p:spPr>
          <a:xfrm>
            <a:off x="548640" y="4398264"/>
            <a:ext cx="128016" cy="128016"/>
          </a:xfrm>
          <a:prstGeom prst="ellipse">
            <a:avLst/>
          </a:prstGeom>
          <a:solidFill>
            <a:srgbClr val="CADCFC"/>
          </a:solidFill>
          <a:ln/>
        </p:spPr>
      </p:sp>
      <p:sp>
        <p:nvSpPr>
          <p:cNvPr id="8" name="Text 6"/>
          <p:cNvSpPr txBox="1"/>
          <p:nvPr/>
        </p:nvSpPr>
        <p:spPr>
          <a:xfrm>
            <a:off x="868680" y="4343400"/>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Icebreaker</a:t>
            </a:r>
            <a:endParaRPr lang="en-US" sz="1600" dirty="0"/>
          </a:p>
        </p:txBody>
      </p:sp>
      <p:sp>
        <p:nvSpPr>
          <p:cNvPr id="9" name="Shape 7"/>
          <p:cNvSpPr/>
          <p:nvPr/>
        </p:nvSpPr>
        <p:spPr>
          <a:xfrm>
            <a:off x="548640" y="4837176"/>
            <a:ext cx="128016" cy="128016"/>
          </a:xfrm>
          <a:prstGeom prst="ellipse">
            <a:avLst/>
          </a:prstGeom>
          <a:solidFill>
            <a:srgbClr val="CADCFC"/>
          </a:solidFill>
          <a:ln/>
        </p:spPr>
      </p:sp>
      <p:sp>
        <p:nvSpPr>
          <p:cNvPr id="10" name="Text 8"/>
          <p:cNvSpPr txBox="1"/>
          <p:nvPr/>
        </p:nvSpPr>
        <p:spPr>
          <a:xfrm>
            <a:off x="868680" y="4782312"/>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four-week arc of this course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1.1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Icebreaker</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Go around the room: your name, what you currently do, and one app you use daily</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Name one thing about that app's “backend” you're curious about</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1.2  ·  10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Four-Week Roadmap</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Week 1 — Python fundamentals for backend work: environment, OOP, functional programming</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Week 2 — FastAPI: building real REST APIs, type hints and validation with Pydantic</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Week 3 — Databases: SQLModel ORM, CRUD operations, and testing with Pytest</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Week 4 — Code quality, linting, production-readiness, and a final project</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Instructor framing:  </a:t>
            </a:r>
            <a:pPr indent="0" marL="0">
              <a:buNone/>
            </a:pPr>
            <a:r>
              <a:rPr lang="en-US" sz="1300" dirty="0">
                <a:solidFill>
                  <a:srgbClr val="26314D"/>
                </a:solidFill>
                <a:latin typeface="Calibri" pitchFamily="34" charset="0"/>
                <a:ea typeface="Calibri" pitchFamily="34" charset="-122"/>
                <a:cs typeface="Calibri" pitchFamily="34" charset="-120"/>
              </a:rPr>
              <a:t>“We're laying the floor before we build the house.” Nothing today is FastAPI yet — it's the foundation that makes next week click instead of confuse.</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4206240"/>
            <a:ext cx="3291840" cy="3291840"/>
          </a:xfrm>
          <a:prstGeom prst="ellipse">
            <a:avLst/>
          </a:prstGeom>
          <a:solidFill>
            <a:srgbClr val="141A47"/>
          </a:solidFill>
          <a:ln/>
        </p:spPr>
      </p:sp>
      <p:sp>
        <p:nvSpPr>
          <p:cNvPr id="3" name="Text 1"/>
          <p:cNvSpPr txBox="1"/>
          <p:nvPr/>
        </p:nvSpPr>
        <p:spPr>
          <a:xfrm>
            <a:off x="548640" y="822960"/>
            <a:ext cx="2743200" cy="1463040"/>
          </a:xfrm>
          <a:prstGeom prst="rect">
            <a:avLst/>
          </a:prstGeom>
          <a:noFill/>
          <a:ln/>
        </p:spPr>
        <p:txBody>
          <a:bodyPr wrap="square" lIns="0" tIns="0" rIns="0" bIns="0" rtlCol="0" anchor="ctr"/>
          <a:lstStyle/>
          <a:p>
            <a:pPr indent="0" marL="0">
              <a:buNone/>
            </a:pPr>
            <a:r>
              <a:rPr lang="en-US" sz="9000" b="1" dirty="0">
                <a:solidFill>
                  <a:srgbClr val="141A47"/>
                </a:solidFill>
                <a:latin typeface="Cambria" pitchFamily="34" charset="0"/>
                <a:ea typeface="Cambria" pitchFamily="34" charset="-122"/>
                <a:cs typeface="Cambria" pitchFamily="34" charset="-120"/>
              </a:rPr>
              <a:t>2</a:t>
            </a:r>
            <a:endParaRPr lang="en-US" sz="9000" dirty="0"/>
          </a:p>
        </p:txBody>
      </p:sp>
      <p:sp>
        <p:nvSpPr>
          <p:cNvPr id="4" name="Text 2"/>
          <p:cNvSpPr txBox="1"/>
          <p:nvPr/>
        </p:nvSpPr>
        <p:spPr>
          <a:xfrm>
            <a:off x="54864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Is Backend Development?</a:t>
            </a:r>
            <a:endParaRPr lang="en-US" sz="4000" dirty="0"/>
          </a:p>
        </p:txBody>
      </p:sp>
      <p:sp>
        <p:nvSpPr>
          <p:cNvPr id="5" name="Shape 3"/>
          <p:cNvSpPr/>
          <p:nvPr/>
        </p:nvSpPr>
        <p:spPr>
          <a:xfrm>
            <a:off x="548640" y="3520440"/>
            <a:ext cx="3291840" cy="502920"/>
          </a:xfrm>
          <a:prstGeom prst="rect">
            <a:avLst/>
          </a:prstGeom>
          <a:solidFill>
            <a:srgbClr val="E8A33D"/>
          </a:solidFill>
          <a:ln/>
        </p:spPr>
      </p:sp>
      <p:sp>
        <p:nvSpPr>
          <p:cNvPr id="6" name="Text 4"/>
          <p:cNvSpPr txBox="1"/>
          <p:nvPr/>
        </p:nvSpPr>
        <p:spPr>
          <a:xfrm>
            <a:off x="548640" y="3520440"/>
            <a:ext cx="3291840" cy="50292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0:15 – 1:23   •   68 MIN</a:t>
            </a:r>
            <a:endParaRPr lang="en-US" sz="1400" dirty="0"/>
          </a:p>
        </p:txBody>
      </p:sp>
      <p:sp>
        <p:nvSpPr>
          <p:cNvPr id="7" name="Shape 5"/>
          <p:cNvSpPr/>
          <p:nvPr/>
        </p:nvSpPr>
        <p:spPr>
          <a:xfrm>
            <a:off x="548640" y="4398264"/>
            <a:ext cx="128016" cy="128016"/>
          </a:xfrm>
          <a:prstGeom prst="ellipse">
            <a:avLst/>
          </a:prstGeom>
          <a:solidFill>
            <a:srgbClr val="CADCFC"/>
          </a:solidFill>
          <a:ln/>
        </p:spPr>
      </p:sp>
      <p:sp>
        <p:nvSpPr>
          <p:cNvPr id="8" name="Text 6"/>
          <p:cNvSpPr txBox="1"/>
          <p:nvPr/>
        </p:nvSpPr>
        <p:spPr>
          <a:xfrm>
            <a:off x="868680" y="4343400"/>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Frontend vs. backend, client–server model</a:t>
            </a:r>
            <a:endParaRPr lang="en-US" sz="1600" dirty="0"/>
          </a:p>
        </p:txBody>
      </p:sp>
      <p:sp>
        <p:nvSpPr>
          <p:cNvPr id="9" name="Shape 7"/>
          <p:cNvSpPr/>
          <p:nvPr/>
        </p:nvSpPr>
        <p:spPr>
          <a:xfrm>
            <a:off x="548640" y="4837176"/>
            <a:ext cx="128016" cy="128016"/>
          </a:xfrm>
          <a:prstGeom prst="ellipse">
            <a:avLst/>
          </a:prstGeom>
          <a:solidFill>
            <a:srgbClr val="CADCFC"/>
          </a:solidFill>
          <a:ln/>
        </p:spPr>
      </p:sp>
      <p:sp>
        <p:nvSpPr>
          <p:cNvPr id="10" name="Text 8"/>
          <p:cNvSpPr txBox="1"/>
          <p:nvPr/>
        </p:nvSpPr>
        <p:spPr>
          <a:xfrm>
            <a:off x="868680" y="4782312"/>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Servers, APIs &amp; types of APIs</a:t>
            </a:r>
            <a:endParaRPr lang="en-US" sz="1600" dirty="0"/>
          </a:p>
        </p:txBody>
      </p:sp>
      <p:sp>
        <p:nvSpPr>
          <p:cNvPr id="11" name="Shape 9"/>
          <p:cNvSpPr/>
          <p:nvPr/>
        </p:nvSpPr>
        <p:spPr>
          <a:xfrm>
            <a:off x="548640" y="5276088"/>
            <a:ext cx="128016" cy="128016"/>
          </a:xfrm>
          <a:prstGeom prst="ellipse">
            <a:avLst/>
          </a:prstGeom>
          <a:solidFill>
            <a:srgbClr val="CADCFC"/>
          </a:solidFill>
          <a:ln/>
        </p:spPr>
      </p:sp>
      <p:sp>
        <p:nvSpPr>
          <p:cNvPr id="12" name="Text 10"/>
          <p:cNvSpPr txBox="1"/>
          <p:nvPr/>
        </p:nvSpPr>
        <p:spPr>
          <a:xfrm>
            <a:off x="868680" y="5221224"/>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HTTP/HTTPS, request methods, status codes</a:t>
            </a:r>
            <a:endParaRPr lang="en-US" sz="1600" dirty="0"/>
          </a:p>
        </p:txBody>
      </p:sp>
      <p:sp>
        <p:nvSpPr>
          <p:cNvPr id="13" name="Shape 11"/>
          <p:cNvSpPr/>
          <p:nvPr/>
        </p:nvSpPr>
        <p:spPr>
          <a:xfrm>
            <a:off x="548640" y="5715000"/>
            <a:ext cx="128016" cy="128016"/>
          </a:xfrm>
          <a:prstGeom prst="ellipse">
            <a:avLst/>
          </a:prstGeom>
          <a:solidFill>
            <a:srgbClr val="CADCFC"/>
          </a:solidFill>
          <a:ln/>
        </p:spPr>
      </p:sp>
      <p:sp>
        <p:nvSpPr>
          <p:cNvPr id="14" name="Text 12"/>
          <p:cNvSpPr txBox="1"/>
          <p:nvPr/>
        </p:nvSpPr>
        <p:spPr>
          <a:xfrm>
            <a:off x="868680" y="5660136"/>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a backend does &amp; its architecture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2.1  ·  8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Frontend vs. Backend</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5317236" cy="4434840"/>
          </a:xfrm>
          <a:prstGeom prst="roundRect">
            <a:avLst>
              <a:gd name="adj" fmla="val 1649"/>
            </a:avLst>
          </a:prstGeom>
          <a:solidFill>
            <a:srgbClr val="F4F6FB"/>
          </a:solidFill>
          <a:ln/>
        </p:spPr>
      </p:sp>
      <p:sp>
        <p:nvSpPr>
          <p:cNvPr id="6" name="Shape 4"/>
          <p:cNvSpPr/>
          <p:nvPr/>
        </p:nvSpPr>
        <p:spPr>
          <a:xfrm>
            <a:off x="822960" y="2057400"/>
            <a:ext cx="502920" cy="502920"/>
          </a:xfrm>
          <a:prstGeom prst="ellipse">
            <a:avLst/>
          </a:prstGeom>
          <a:solidFill>
            <a:srgbClr val="5C7FC9"/>
          </a:solidFill>
          <a:ln/>
        </p:spPr>
      </p:sp>
      <p:sp>
        <p:nvSpPr>
          <p:cNvPr id="7" name="Text 5"/>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FE</a:t>
            </a:r>
            <a:endParaRPr lang="en-US" sz="2000" dirty="0"/>
          </a:p>
        </p:txBody>
      </p:sp>
      <p:sp>
        <p:nvSpPr>
          <p:cNvPr id="8" name="Text 6"/>
          <p:cNvSpPr txBox="1"/>
          <p:nvPr/>
        </p:nvSpPr>
        <p:spPr>
          <a:xfrm>
            <a:off x="1463040" y="2057400"/>
            <a:ext cx="4128516" cy="502920"/>
          </a:xfrm>
          <a:prstGeom prst="rect">
            <a:avLst/>
          </a:prstGeom>
          <a:noFill/>
          <a:ln/>
        </p:spPr>
        <p:txBody>
          <a:bodyPr wrap="square" lIns="0" tIns="0" rIns="0" bIns="0" rtlCol="0" anchor="ctr"/>
          <a:lstStyle/>
          <a:p>
            <a:pPr indent="0" marL="0">
              <a:buNone/>
            </a:pPr>
            <a:r>
              <a:rPr lang="en-US" sz="1900" b="1" dirty="0">
                <a:solidFill>
                  <a:srgbClr val="5C7FC9"/>
                </a:solidFill>
                <a:latin typeface="Cambria" pitchFamily="34" charset="0"/>
                <a:ea typeface="Cambria" pitchFamily="34" charset="-122"/>
                <a:cs typeface="Cambria" pitchFamily="34" charset="-120"/>
              </a:rPr>
              <a:t>Frontend</a:t>
            </a:r>
            <a:endParaRPr lang="en-US" sz="1900" dirty="0"/>
          </a:p>
        </p:txBody>
      </p:sp>
      <p:sp>
        <p:nvSpPr>
          <p:cNvPr id="9" name="Text 7"/>
          <p:cNvSpPr txBox="1"/>
          <p:nvPr/>
        </p:nvSpPr>
        <p:spPr>
          <a:xfrm>
            <a:off x="822960" y="2743200"/>
            <a:ext cx="4768596" cy="33375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Everything the user directly sees and touches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Layout, buttons, colors, forms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Runs in the user's browser or phone</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Example: the menu screen, the “Add to cart” button, the map showing the driver</a:t>
            </a:r>
            <a:endParaRPr lang="en-US" sz="1400" dirty="0"/>
          </a:p>
        </p:txBody>
      </p:sp>
      <p:sp>
        <p:nvSpPr>
          <p:cNvPr id="10" name="Shape 8"/>
          <p:cNvSpPr/>
          <p:nvPr/>
        </p:nvSpPr>
        <p:spPr>
          <a:xfrm>
            <a:off x="6323076" y="1783080"/>
            <a:ext cx="5317236" cy="4434840"/>
          </a:xfrm>
          <a:prstGeom prst="roundRect">
            <a:avLst>
              <a:gd name="adj" fmla="val 1649"/>
            </a:avLst>
          </a:prstGeom>
          <a:solidFill>
            <a:srgbClr val="F4F6FB"/>
          </a:solidFill>
          <a:ln/>
        </p:spPr>
      </p:sp>
      <p:sp>
        <p:nvSpPr>
          <p:cNvPr id="11" name="Shape 9"/>
          <p:cNvSpPr/>
          <p:nvPr/>
        </p:nvSpPr>
        <p:spPr>
          <a:xfrm>
            <a:off x="6597396" y="2057400"/>
            <a:ext cx="502920" cy="502920"/>
          </a:xfrm>
          <a:prstGeom prst="ellipse">
            <a:avLst/>
          </a:prstGeom>
          <a:solidFill>
            <a:srgbClr val="1E2761"/>
          </a:solidFill>
          <a:ln/>
        </p:spPr>
      </p:sp>
      <p:sp>
        <p:nvSpPr>
          <p:cNvPr id="12" name="Text 10"/>
          <p:cNvSpPr txBox="1"/>
          <p:nvPr/>
        </p:nvSpPr>
        <p:spPr>
          <a:xfrm>
            <a:off x="6597396"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BE</a:t>
            </a:r>
            <a:endParaRPr lang="en-US" sz="2000" dirty="0"/>
          </a:p>
        </p:txBody>
      </p:sp>
      <p:sp>
        <p:nvSpPr>
          <p:cNvPr id="13" name="Text 11"/>
          <p:cNvSpPr txBox="1"/>
          <p:nvPr/>
        </p:nvSpPr>
        <p:spPr>
          <a:xfrm>
            <a:off x="7237476" y="2057400"/>
            <a:ext cx="4128516" cy="50292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Backend</a:t>
            </a:r>
            <a:endParaRPr lang="en-US" sz="1900" dirty="0"/>
          </a:p>
        </p:txBody>
      </p:sp>
      <p:sp>
        <p:nvSpPr>
          <p:cNvPr id="14" name="Text 12"/>
          <p:cNvSpPr txBox="1"/>
          <p:nvPr/>
        </p:nvSpPr>
        <p:spPr>
          <a:xfrm>
            <a:off x="6597396" y="2743200"/>
            <a:ext cx="4768596" cy="33375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The part nobody sees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Runs on a server somewhere else</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Responsible for logic, data storage, security, business rules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Example: checking stock, calculating price, saving the order, charging the card</a:t>
            </a:r>
            <a:endParaRPr lang="en-US" sz="1400" dirty="0"/>
          </a:p>
        </p:txBody>
      </p:sp>
      <p:sp>
        <p:nvSpPr>
          <p:cNvPr id="16" name="Text 1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2.2  ·  10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Client–Server Model</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828800"/>
            <a:ext cx="11091672" cy="3657600"/>
          </a:xfrm>
          <a:prstGeom prst="roundRect">
            <a:avLst>
              <a:gd name="adj" fmla="val 2000"/>
            </a:avLst>
          </a:prstGeom>
          <a:solidFill>
            <a:srgbClr val="1E2761"/>
          </a:solidFill>
          <a:ln/>
        </p:spPr>
      </p:sp>
      <p:sp>
        <p:nvSpPr>
          <p:cNvPr id="6" name="Shape 4"/>
          <p:cNvSpPr/>
          <p:nvPr/>
        </p:nvSpPr>
        <p:spPr>
          <a:xfrm>
            <a:off x="1097280" y="2331720"/>
            <a:ext cx="2743200" cy="914400"/>
          </a:xfrm>
          <a:prstGeom prst="roundRect">
            <a:avLst>
              <a:gd name="adj" fmla="val 10000"/>
            </a:avLst>
          </a:prstGeom>
          <a:solidFill>
            <a:srgbClr val="FFFFFF"/>
          </a:solidFill>
          <a:ln/>
        </p:spPr>
      </p:sp>
      <p:sp>
        <p:nvSpPr>
          <p:cNvPr id="7" name="Text 5"/>
          <p:cNvSpPr txBox="1"/>
          <p:nvPr/>
        </p:nvSpPr>
        <p:spPr>
          <a:xfrm>
            <a:off x="1097280" y="2331720"/>
            <a:ext cx="2743200" cy="91440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CLIENT</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Browser / App</a:t>
            </a:r>
            <a:endParaRPr lang="en-US" sz="1400" dirty="0"/>
          </a:p>
        </p:txBody>
      </p:sp>
      <p:sp>
        <p:nvSpPr>
          <p:cNvPr id="8" name="Shape 6"/>
          <p:cNvSpPr/>
          <p:nvPr/>
        </p:nvSpPr>
        <p:spPr>
          <a:xfrm>
            <a:off x="8348472" y="2331720"/>
            <a:ext cx="2743200" cy="914400"/>
          </a:xfrm>
          <a:prstGeom prst="roundRect">
            <a:avLst>
              <a:gd name="adj" fmla="val 10000"/>
            </a:avLst>
          </a:prstGeom>
          <a:solidFill>
            <a:srgbClr val="FFFFFF"/>
          </a:solidFill>
          <a:ln/>
        </p:spPr>
      </p:sp>
      <p:sp>
        <p:nvSpPr>
          <p:cNvPr id="9" name="Text 7"/>
          <p:cNvSpPr txBox="1"/>
          <p:nvPr/>
        </p:nvSpPr>
        <p:spPr>
          <a:xfrm>
            <a:off x="8348472" y="2331720"/>
            <a:ext cx="2743200" cy="91440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SERVER</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Backend application</a:t>
            </a:r>
            <a:endParaRPr lang="en-US" sz="1400" dirty="0"/>
          </a:p>
        </p:txBody>
      </p:sp>
      <p:sp>
        <p:nvSpPr>
          <p:cNvPr id="10" name="Shape 8"/>
          <p:cNvSpPr/>
          <p:nvPr/>
        </p:nvSpPr>
        <p:spPr>
          <a:xfrm>
            <a:off x="5088636" y="4526280"/>
            <a:ext cx="2011680" cy="640080"/>
          </a:xfrm>
          <a:prstGeom prst="roundRect">
            <a:avLst>
              <a:gd name="adj" fmla="val 11429"/>
            </a:avLst>
          </a:prstGeom>
          <a:solidFill>
            <a:srgbClr val="141A47"/>
          </a:solidFill>
          <a:ln w="12700">
            <a:solidFill>
              <a:srgbClr val="CADCFC"/>
            </a:solidFill>
            <a:prstDash val="solid"/>
          </a:ln>
        </p:spPr>
      </p:sp>
      <p:sp>
        <p:nvSpPr>
          <p:cNvPr id="11" name="Text 9"/>
          <p:cNvSpPr txBox="1"/>
          <p:nvPr/>
        </p:nvSpPr>
        <p:spPr>
          <a:xfrm>
            <a:off x="5088636" y="4526280"/>
            <a:ext cx="2011680" cy="64008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Database</a:t>
            </a:r>
            <a:endParaRPr lang="en-US" sz="1300" dirty="0"/>
          </a:p>
        </p:txBody>
      </p:sp>
      <p:sp>
        <p:nvSpPr>
          <p:cNvPr id="12" name="Shape 10"/>
          <p:cNvSpPr/>
          <p:nvPr/>
        </p:nvSpPr>
        <p:spPr>
          <a:xfrm>
            <a:off x="3840480" y="2606040"/>
            <a:ext cx="4507992" cy="0"/>
          </a:xfrm>
          <a:prstGeom prst="line">
            <a:avLst/>
          </a:prstGeom>
          <a:noFill/>
          <a:ln w="31750">
            <a:solidFill>
              <a:srgbClr val="E8A33D"/>
            </a:solidFill>
            <a:prstDash val="solid"/>
            <a:tailEnd type="triangle"/>
          </a:ln>
        </p:spPr>
      </p:sp>
      <p:sp>
        <p:nvSpPr>
          <p:cNvPr id="13" name="Text 11"/>
          <p:cNvSpPr txBox="1"/>
          <p:nvPr/>
        </p:nvSpPr>
        <p:spPr>
          <a:xfrm>
            <a:off x="3840480" y="2286000"/>
            <a:ext cx="4507992" cy="274320"/>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1. HTTP request  (GET /menu)</a:t>
            </a:r>
            <a:endParaRPr lang="en-US" sz="1100" dirty="0"/>
          </a:p>
        </p:txBody>
      </p:sp>
      <p:sp>
        <p:nvSpPr>
          <p:cNvPr id="14" name="Shape 12"/>
          <p:cNvSpPr/>
          <p:nvPr/>
        </p:nvSpPr>
        <p:spPr>
          <a:xfrm>
            <a:off x="3840480" y="3246120"/>
            <a:ext cx="4507992" cy="0"/>
          </a:xfrm>
          <a:prstGeom prst="line">
            <a:avLst/>
          </a:prstGeom>
          <a:noFill/>
          <a:ln w="31750">
            <a:solidFill>
              <a:srgbClr val="CADCFC"/>
            </a:solidFill>
            <a:prstDash val="dash"/>
            <a:headEnd type="none"/>
            <a:tailEnd type="triangle"/>
          </a:ln>
        </p:spPr>
      </p:sp>
      <p:sp>
        <p:nvSpPr>
          <p:cNvPr id="15" name="Text 13"/>
          <p:cNvSpPr txBox="1"/>
          <p:nvPr/>
        </p:nvSpPr>
        <p:spPr>
          <a:xfrm>
            <a:off x="3840480" y="3337560"/>
            <a:ext cx="4507992"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3. HTTP response  (JSON data)</a:t>
            </a:r>
            <a:endParaRPr lang="en-US" sz="1100" dirty="0"/>
          </a:p>
        </p:txBody>
      </p:sp>
      <p:sp>
        <p:nvSpPr>
          <p:cNvPr id="16" name="Shape 14"/>
          <p:cNvSpPr/>
          <p:nvPr/>
        </p:nvSpPr>
        <p:spPr>
          <a:xfrm>
            <a:off x="6094476" y="3246120"/>
            <a:ext cx="0" cy="1234440"/>
          </a:xfrm>
          <a:prstGeom prst="line">
            <a:avLst/>
          </a:prstGeom>
          <a:noFill/>
          <a:ln w="25400">
            <a:solidFill>
              <a:srgbClr val="CADCFC"/>
            </a:solidFill>
            <a:prstDash val="solid"/>
            <a:tailEnd type="triangle"/>
          </a:ln>
        </p:spPr>
      </p:sp>
      <p:sp>
        <p:nvSpPr>
          <p:cNvPr id="17" name="Text 15"/>
          <p:cNvSpPr txBox="1"/>
          <p:nvPr/>
        </p:nvSpPr>
        <p:spPr>
          <a:xfrm>
            <a:off x="8074152" y="3611880"/>
            <a:ext cx="3017520" cy="822960"/>
          </a:xfrm>
          <a:prstGeom prst="rect">
            <a:avLst/>
          </a:prstGeom>
          <a:noFill/>
          <a:ln/>
        </p:spPr>
        <p:txBody>
          <a:bodyPr wrap="square" lIns="0" tIns="0" rIns="0" bIns="0" rtlCol="0" anchor="ctr"/>
          <a:lstStyle/>
          <a:p>
            <a:pPr algn="r" indent="0" marL="0">
              <a:buNone/>
            </a:pPr>
            <a:r>
              <a:rPr lang="en-US" sz="1100" i="1" dirty="0">
                <a:solidFill>
                  <a:srgbClr val="AEB9DE"/>
                </a:solidFill>
                <a:latin typeface="Calibri" pitchFamily="34" charset="0"/>
                <a:ea typeface="Calibri" pitchFamily="34" charset="-122"/>
                <a:cs typeface="Calibri" pitchFamily="34" charset="-120"/>
              </a:rPr>
              <a:t>2. server runs logic,</a:t>
            </a:r>
            <a:endParaRPr lang="en-US" sz="1100" dirty="0"/>
          </a:p>
          <a:p>
            <a:pPr algn="r" indent="0" marL="0">
              <a:buNone/>
            </a:pPr>
            <a:r>
              <a:rPr lang="en-US" sz="1100" i="1" dirty="0">
                <a:solidFill>
                  <a:srgbClr val="AEB9DE"/>
                </a:solidFill>
                <a:latin typeface="Calibri" pitchFamily="34" charset="0"/>
                <a:ea typeface="Calibri" pitchFamily="34" charset="-122"/>
                <a:cs typeface="Calibri" pitchFamily="34" charset="-120"/>
              </a:rPr>
              <a:t>queries the database</a:t>
            </a:r>
            <a:endParaRPr lang="en-US" sz="1100" dirty="0"/>
          </a:p>
        </p:txBody>
      </p:sp>
      <p:sp>
        <p:nvSpPr>
          <p:cNvPr id="18" name="Text 16"/>
          <p:cNvSpPr txBox="1"/>
          <p:nvPr/>
        </p:nvSpPr>
        <p:spPr>
          <a:xfrm>
            <a:off x="548640" y="5577840"/>
            <a:ext cx="11091672" cy="36576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4. browser renders the response on screen</a:t>
            </a:r>
            <a:endParaRPr lang="en-US" sz="1300" dirty="0"/>
          </a:p>
        </p:txBody>
      </p:sp>
      <p:sp>
        <p:nvSpPr>
          <p:cNvPr id="20" name="Text 1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2.2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Vocabulary from the Diagram</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Client — any program that sends a request: a browser, a mobile app, even another backend service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Server — a program that listens for requests and sends back responses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Request — method (GET, POST, PUT, DELETE) + URL/path + sometimes a body of data</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Response — a status code (200 OK, 404 Not Found, 500 Server Error) plus data, often JSON</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API — the agreed-upon set of requests a backend exposes, so other programs know how to talk to it</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Bridge to what's next:  </a:t>
            </a:r>
            <a:pPr indent="0" marL="0">
              <a:buNone/>
            </a:pPr>
            <a:r>
              <a:rPr lang="en-US" sz="1300" dirty="0">
                <a:solidFill>
                  <a:srgbClr val="26314D"/>
                </a:solidFill>
                <a:latin typeface="Calibri" pitchFamily="34" charset="0"/>
                <a:ea typeface="Calibri" pitchFamily="34" charset="-122"/>
                <a:cs typeface="Calibri" pitchFamily="34" charset="-120"/>
              </a:rPr>
              <a:t>That's enough to follow this diagram — but since “API” is the word you'll hear most this course, the next few sections slow down and unpack server, API, HTTP/HTTPS, methods, and status codes properly.</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2.3  ·  6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 Server?</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Hardware/infrastructure sense — a physical or virtual machine that's always on and reachable over a network (an on-prem box, or a cloud VM from AWS/Azure/GCP)</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Software sense — a running program that listens on a network port for requests and sends back responses. This is what backend developers usually mean by “the server”</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Web server — serves web pages or API responses (our backend's role)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Application server — runs your business logic (same process as the web server, for a small project)</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Database server — stores and serves data (Week 3); File/static server — serves images, CSS, videos</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2.3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localhost and Ports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one machine, several servers</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web/API server       listening on port 80 / 443</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database server      listening on port 5432 (Postgres)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a second internal service   listening on port 8001</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127.0.0.1, aka localhost, means “this same machine”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The number after the colon (e.g. :8000) is the port — the specific “door” a server listens at</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Different programs use different ports so they don't collide</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2.4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an API, Really?</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An API is a defined way for one piece of software to talk to another</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Not limited to “backend over the internet” — any code that exposes functions for other code to call is technically an API (e.g. a Python library's public functions)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In backend/web development, “API” almost always means a web API: a backend exposing URLs that other programs can send HTTP requests to</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Public API — meant for outside developers (a weather API, a payment provider's API)</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Internal/private API — only ever called by your own frontend or other services on your team</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2.4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Types of Web APIs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920240"/>
            <a:ext cx="2498598" cy="4206240"/>
          </a:xfrm>
          <a:prstGeom prst="roundRect">
            <a:avLst>
              <a:gd name="adj" fmla="val 2928"/>
            </a:avLst>
          </a:prstGeom>
          <a:solidFill>
            <a:srgbClr val="F4F6FB"/>
          </a:solidFill>
          <a:ln/>
        </p:spPr>
      </p:sp>
      <p:sp>
        <p:nvSpPr>
          <p:cNvPr id="6" name="Shape 4"/>
          <p:cNvSpPr/>
          <p:nvPr/>
        </p:nvSpPr>
        <p:spPr>
          <a:xfrm>
            <a:off x="548640" y="1920240"/>
            <a:ext cx="2498598" cy="109728"/>
          </a:xfrm>
          <a:prstGeom prst="roundRect">
            <a:avLst/>
          </a:prstGeom>
          <a:solidFill>
            <a:srgbClr val="1E2761"/>
          </a:solidFill>
          <a:ln/>
        </p:spPr>
      </p:sp>
      <p:sp>
        <p:nvSpPr>
          <p:cNvPr id="7" name="Text 5"/>
          <p:cNvSpPr txBox="1"/>
          <p:nvPr/>
        </p:nvSpPr>
        <p:spPr>
          <a:xfrm>
            <a:off x="777240"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REST</a:t>
            </a:r>
            <a:endParaRPr lang="en-US" sz="1500" dirty="0"/>
          </a:p>
        </p:txBody>
      </p:sp>
      <p:sp>
        <p:nvSpPr>
          <p:cNvPr id="8" name="Text 6"/>
          <p:cNvSpPr txBox="1"/>
          <p:nvPr/>
        </p:nvSpPr>
        <p:spPr>
          <a:xfrm>
            <a:off x="777240"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Resources identified by URLs; standard HTTP methods act on them</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The dominant style — what FastAPI is built for, and what this course uses</a:t>
            </a:r>
            <a:endParaRPr lang="en-US" sz="1250" dirty="0"/>
          </a:p>
        </p:txBody>
      </p:sp>
      <p:sp>
        <p:nvSpPr>
          <p:cNvPr id="9" name="Shape 7"/>
          <p:cNvSpPr/>
          <p:nvPr/>
        </p:nvSpPr>
        <p:spPr>
          <a:xfrm>
            <a:off x="3412998" y="1920240"/>
            <a:ext cx="2498598" cy="4206240"/>
          </a:xfrm>
          <a:prstGeom prst="roundRect">
            <a:avLst>
              <a:gd name="adj" fmla="val 2928"/>
            </a:avLst>
          </a:prstGeom>
          <a:solidFill>
            <a:srgbClr val="F4F6FB"/>
          </a:solidFill>
          <a:ln/>
        </p:spPr>
      </p:sp>
      <p:sp>
        <p:nvSpPr>
          <p:cNvPr id="10" name="Shape 8"/>
          <p:cNvSpPr/>
          <p:nvPr/>
        </p:nvSpPr>
        <p:spPr>
          <a:xfrm>
            <a:off x="3412998" y="1920240"/>
            <a:ext cx="2498598" cy="109728"/>
          </a:xfrm>
          <a:prstGeom prst="roundRect">
            <a:avLst/>
          </a:prstGeom>
          <a:solidFill>
            <a:srgbClr val="5C7FC9"/>
          </a:solidFill>
          <a:ln/>
        </p:spPr>
      </p:sp>
      <p:sp>
        <p:nvSpPr>
          <p:cNvPr id="11" name="Text 9"/>
          <p:cNvSpPr txBox="1"/>
          <p:nvPr/>
        </p:nvSpPr>
        <p:spPr>
          <a:xfrm>
            <a:off x="3641598" y="2194560"/>
            <a:ext cx="2041398" cy="457200"/>
          </a:xfrm>
          <a:prstGeom prst="rect">
            <a:avLst/>
          </a:prstGeom>
          <a:noFill/>
          <a:ln/>
        </p:spPr>
        <p:txBody>
          <a:bodyPr wrap="square" lIns="0" tIns="0" rIns="0" bIns="0" rtlCol="0" anchor="ctr"/>
          <a:lstStyle/>
          <a:p>
            <a:pPr indent="0" marL="0">
              <a:buNone/>
            </a:pPr>
            <a:r>
              <a:rPr lang="en-US" sz="1500" b="1" dirty="0">
                <a:solidFill>
                  <a:srgbClr val="5C7FC9"/>
                </a:solidFill>
                <a:latin typeface="Calibri" pitchFamily="34" charset="0"/>
                <a:ea typeface="Calibri" pitchFamily="34" charset="-122"/>
                <a:cs typeface="Calibri" pitchFamily="34" charset="-120"/>
              </a:rPr>
              <a:t>GraphQL</a:t>
            </a:r>
            <a:endParaRPr lang="en-US" sz="1500" dirty="0"/>
          </a:p>
        </p:txBody>
      </p:sp>
      <p:sp>
        <p:nvSpPr>
          <p:cNvPr id="12" name="Text 10"/>
          <p:cNvSpPr txBox="1"/>
          <p:nvPr/>
        </p:nvSpPr>
        <p:spPr>
          <a:xfrm>
            <a:off x="3641598"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Client sends a query describing exactly the data it wants</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Avoids over- or under-fetching; different tradeoffs than REST</a:t>
            </a:r>
            <a:endParaRPr lang="en-US" sz="1250" dirty="0"/>
          </a:p>
        </p:txBody>
      </p:sp>
      <p:sp>
        <p:nvSpPr>
          <p:cNvPr id="13" name="Shape 11"/>
          <p:cNvSpPr/>
          <p:nvPr/>
        </p:nvSpPr>
        <p:spPr>
          <a:xfrm>
            <a:off x="6277356" y="1920240"/>
            <a:ext cx="2498598" cy="4206240"/>
          </a:xfrm>
          <a:prstGeom prst="roundRect">
            <a:avLst>
              <a:gd name="adj" fmla="val 2928"/>
            </a:avLst>
          </a:prstGeom>
          <a:solidFill>
            <a:srgbClr val="F4F6FB"/>
          </a:solidFill>
          <a:ln/>
        </p:spPr>
      </p:sp>
      <p:sp>
        <p:nvSpPr>
          <p:cNvPr id="14" name="Shape 12"/>
          <p:cNvSpPr/>
          <p:nvPr/>
        </p:nvSpPr>
        <p:spPr>
          <a:xfrm>
            <a:off x="6277356" y="1920240"/>
            <a:ext cx="2498598" cy="109728"/>
          </a:xfrm>
          <a:prstGeom prst="roundRect">
            <a:avLst/>
          </a:prstGeom>
          <a:solidFill>
            <a:srgbClr val="B5791A"/>
          </a:solidFill>
          <a:ln/>
        </p:spPr>
      </p:sp>
      <p:sp>
        <p:nvSpPr>
          <p:cNvPr id="15" name="Text 13"/>
          <p:cNvSpPr txBox="1"/>
          <p:nvPr/>
        </p:nvSpPr>
        <p:spPr>
          <a:xfrm>
            <a:off x="6505956" y="2194560"/>
            <a:ext cx="2041398" cy="457200"/>
          </a:xfrm>
          <a:prstGeom prst="rect">
            <a:avLst/>
          </a:prstGeom>
          <a:noFill/>
          <a:ln/>
        </p:spPr>
        <p:txBody>
          <a:bodyPr wrap="square" lIns="0" tIns="0" rIns="0" bIns="0" rtlCol="0" anchor="ctr"/>
          <a:lstStyle/>
          <a:p>
            <a:pPr indent="0" marL="0">
              <a:buNone/>
            </a:pPr>
            <a:r>
              <a:rPr lang="en-US" sz="1500" b="1" dirty="0">
                <a:solidFill>
                  <a:srgbClr val="B5791A"/>
                </a:solidFill>
                <a:latin typeface="Calibri" pitchFamily="34" charset="0"/>
                <a:ea typeface="Calibri" pitchFamily="34" charset="-122"/>
                <a:cs typeface="Calibri" pitchFamily="34" charset="-120"/>
              </a:rPr>
              <a:t>SOAP</a:t>
            </a:r>
            <a:endParaRPr lang="en-US" sz="1500" dirty="0"/>
          </a:p>
        </p:txBody>
      </p:sp>
      <p:sp>
        <p:nvSpPr>
          <p:cNvPr id="16" name="Text 14"/>
          <p:cNvSpPr txBox="1"/>
          <p:nvPr/>
        </p:nvSpPr>
        <p:spPr>
          <a:xfrm>
            <a:off x="6505956"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Older, stricter, XML-based protocol</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Largely legacy — still found in some enterprise/banking systems</a:t>
            </a:r>
            <a:endParaRPr lang="en-US" sz="1250" dirty="0"/>
          </a:p>
        </p:txBody>
      </p:sp>
      <p:sp>
        <p:nvSpPr>
          <p:cNvPr id="17" name="Shape 15"/>
          <p:cNvSpPr/>
          <p:nvPr/>
        </p:nvSpPr>
        <p:spPr>
          <a:xfrm>
            <a:off x="9141714" y="1920240"/>
            <a:ext cx="2498598" cy="4206240"/>
          </a:xfrm>
          <a:prstGeom prst="roundRect">
            <a:avLst>
              <a:gd name="adj" fmla="val 2928"/>
            </a:avLst>
          </a:prstGeom>
          <a:solidFill>
            <a:srgbClr val="F4F6FB"/>
          </a:solidFill>
          <a:ln/>
        </p:spPr>
      </p:sp>
      <p:sp>
        <p:nvSpPr>
          <p:cNvPr id="18" name="Shape 16"/>
          <p:cNvSpPr/>
          <p:nvPr/>
        </p:nvSpPr>
        <p:spPr>
          <a:xfrm>
            <a:off x="9141714" y="1920240"/>
            <a:ext cx="2498598" cy="109728"/>
          </a:xfrm>
          <a:prstGeom prst="roundRect">
            <a:avLst/>
          </a:prstGeom>
          <a:solidFill>
            <a:srgbClr val="1E2761"/>
          </a:solidFill>
          <a:ln/>
        </p:spPr>
      </p:sp>
      <p:sp>
        <p:nvSpPr>
          <p:cNvPr id="19" name="Text 17"/>
          <p:cNvSpPr txBox="1"/>
          <p:nvPr/>
        </p:nvSpPr>
        <p:spPr>
          <a:xfrm>
            <a:off x="9370314"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WebSocket</a:t>
            </a:r>
            <a:endParaRPr lang="en-US" sz="1500" dirty="0"/>
          </a:p>
        </p:txBody>
      </p:sp>
      <p:sp>
        <p:nvSpPr>
          <p:cNvPr id="20" name="Text 18"/>
          <p:cNvSpPr txBox="1"/>
          <p:nvPr/>
        </p:nvSpPr>
        <p:spPr>
          <a:xfrm>
            <a:off x="9370314"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Real-time, two-way communication</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Chat apps, live notifications — not one request/one response</a:t>
            </a:r>
            <a:endParaRPr lang="en-US" sz="1250" dirty="0"/>
          </a:p>
        </p:txBody>
      </p:sp>
      <p:sp>
        <p:nvSpPr>
          <p:cNvPr id="22"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2.5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HTTP: The Language of the Web</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HTTP defines the format of requests and responses, so any client and any server — in any language — can understand each other</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Text-based — a request or response is human-readable, not binary</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Request/response — the client always initiates; the server never contacts the client out of nowhere (WebSocket is the exception)</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Stateless — by default, the server doesn't remember previous requests. Each one stands alone</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Why this matters later:  </a:t>
            </a:r>
            <a:pPr indent="0" marL="0">
              <a:buNone/>
            </a:pPr>
            <a:r>
              <a:rPr lang="en-US" sz="1300" dirty="0">
                <a:solidFill>
                  <a:srgbClr val="26314D"/>
                </a:solidFill>
                <a:latin typeface="Calibri" pitchFamily="34" charset="0"/>
                <a:ea typeface="Calibri" pitchFamily="34" charset="-122"/>
                <a:cs typeface="Calibri" pitchFamily="34" charset="-120"/>
              </a:rPr>
              <a:t>Statelessness is exactly why logins use sessions and tokens — a preview of Week 2/3 authentication.</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2.5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Anatomy of a URL — and HTTPS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https://api.example.com:443/v1/users/42?active=true</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scheme:  https        which protocol, and is it encrypted</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host:    api.example.com   which server to talk to</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port:    443           usually hidden (default for https)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path:    /v1/users/42  which resource on that server</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query:   ?active=true  extra filters, as key=value pairs</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HTTPS = HTTP + encryption (TLS/SSL) — same protocol, encrypted conversation</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HTTP defaults to port 80; HTTPS defaults to port 443</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The padlock icon means HTTPS is active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Passwords &amp; tokens cross the network on every request — production backends are HTTPS-only</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2.6  ·  6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Request Methods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the five you'll use constantly</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Method   Typical use              Example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GET      read/retrieve            GET /users/42</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POST     create something new     POST /users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PUT      replace entirely         PUT /users/42</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PATCH    update one field         PATCH /users/42</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DELETE   remove                   DELETE /users/42</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GET — like reading a menu; never changes anything</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POST — like placing a new order</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PUT / PATCH — rewrite the whole order vs. change one item</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DELETE — cancel the order</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2.7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Status Code Categories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920240"/>
            <a:ext cx="2498598" cy="4206240"/>
          </a:xfrm>
          <a:prstGeom prst="roundRect">
            <a:avLst>
              <a:gd name="adj" fmla="val 2928"/>
            </a:avLst>
          </a:prstGeom>
          <a:solidFill>
            <a:srgbClr val="F4F6FB"/>
          </a:solidFill>
          <a:ln/>
        </p:spPr>
      </p:sp>
      <p:sp>
        <p:nvSpPr>
          <p:cNvPr id="6" name="Shape 4"/>
          <p:cNvSpPr/>
          <p:nvPr/>
        </p:nvSpPr>
        <p:spPr>
          <a:xfrm>
            <a:off x="548640" y="1920240"/>
            <a:ext cx="2498598" cy="109728"/>
          </a:xfrm>
          <a:prstGeom prst="roundRect">
            <a:avLst/>
          </a:prstGeom>
          <a:solidFill>
            <a:srgbClr val="1E2761"/>
          </a:solidFill>
          <a:ln/>
        </p:spPr>
      </p:sp>
      <p:sp>
        <p:nvSpPr>
          <p:cNvPr id="7" name="Text 5"/>
          <p:cNvSpPr txBox="1"/>
          <p:nvPr/>
        </p:nvSpPr>
        <p:spPr>
          <a:xfrm>
            <a:off x="777240"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2xx — Success</a:t>
            </a:r>
            <a:endParaRPr lang="en-US" sz="1500" dirty="0"/>
          </a:p>
        </p:txBody>
      </p:sp>
      <p:sp>
        <p:nvSpPr>
          <p:cNvPr id="8" name="Text 6"/>
          <p:cNvSpPr txBox="1"/>
          <p:nvPr/>
        </p:nvSpPr>
        <p:spPr>
          <a:xfrm>
            <a:off x="777240"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200 OK — standard success</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201 Created — a POST worked</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204 No Content — success, nothing to return</a:t>
            </a:r>
            <a:endParaRPr lang="en-US" sz="1250" dirty="0"/>
          </a:p>
        </p:txBody>
      </p:sp>
      <p:sp>
        <p:nvSpPr>
          <p:cNvPr id="9" name="Shape 7"/>
          <p:cNvSpPr/>
          <p:nvPr/>
        </p:nvSpPr>
        <p:spPr>
          <a:xfrm>
            <a:off x="3412998" y="1920240"/>
            <a:ext cx="2498598" cy="4206240"/>
          </a:xfrm>
          <a:prstGeom prst="roundRect">
            <a:avLst>
              <a:gd name="adj" fmla="val 2928"/>
            </a:avLst>
          </a:prstGeom>
          <a:solidFill>
            <a:srgbClr val="F4F6FB"/>
          </a:solidFill>
          <a:ln/>
        </p:spPr>
      </p:sp>
      <p:sp>
        <p:nvSpPr>
          <p:cNvPr id="10" name="Shape 8"/>
          <p:cNvSpPr/>
          <p:nvPr/>
        </p:nvSpPr>
        <p:spPr>
          <a:xfrm>
            <a:off x="3412998" y="1920240"/>
            <a:ext cx="2498598" cy="109728"/>
          </a:xfrm>
          <a:prstGeom prst="roundRect">
            <a:avLst/>
          </a:prstGeom>
          <a:solidFill>
            <a:srgbClr val="5C7FC9"/>
          </a:solidFill>
          <a:ln/>
        </p:spPr>
      </p:sp>
      <p:sp>
        <p:nvSpPr>
          <p:cNvPr id="11" name="Text 9"/>
          <p:cNvSpPr txBox="1"/>
          <p:nvPr/>
        </p:nvSpPr>
        <p:spPr>
          <a:xfrm>
            <a:off x="3641598" y="2194560"/>
            <a:ext cx="2041398" cy="457200"/>
          </a:xfrm>
          <a:prstGeom prst="rect">
            <a:avLst/>
          </a:prstGeom>
          <a:noFill/>
          <a:ln/>
        </p:spPr>
        <p:txBody>
          <a:bodyPr wrap="square" lIns="0" tIns="0" rIns="0" bIns="0" rtlCol="0" anchor="ctr"/>
          <a:lstStyle/>
          <a:p>
            <a:pPr indent="0" marL="0">
              <a:buNone/>
            </a:pPr>
            <a:r>
              <a:rPr lang="en-US" sz="1500" b="1" dirty="0">
                <a:solidFill>
                  <a:srgbClr val="5C7FC9"/>
                </a:solidFill>
                <a:latin typeface="Calibri" pitchFamily="34" charset="0"/>
                <a:ea typeface="Calibri" pitchFamily="34" charset="-122"/>
                <a:cs typeface="Calibri" pitchFamily="34" charset="-120"/>
              </a:rPr>
              <a:t>3xx — Redirection</a:t>
            </a:r>
            <a:endParaRPr lang="en-US" sz="1500" dirty="0"/>
          </a:p>
        </p:txBody>
      </p:sp>
      <p:sp>
        <p:nvSpPr>
          <p:cNvPr id="12" name="Text 10"/>
          <p:cNvSpPr txBox="1"/>
          <p:nvPr/>
        </p:nvSpPr>
        <p:spPr>
          <a:xfrm>
            <a:off x="3641598"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301 Moved Permanently</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304 Not Modified — cached copy is still good</a:t>
            </a:r>
            <a:endParaRPr lang="en-US" sz="1250" dirty="0"/>
          </a:p>
        </p:txBody>
      </p:sp>
      <p:sp>
        <p:nvSpPr>
          <p:cNvPr id="13" name="Shape 11"/>
          <p:cNvSpPr/>
          <p:nvPr/>
        </p:nvSpPr>
        <p:spPr>
          <a:xfrm>
            <a:off x="6277356" y="1920240"/>
            <a:ext cx="2498598" cy="4206240"/>
          </a:xfrm>
          <a:prstGeom prst="roundRect">
            <a:avLst>
              <a:gd name="adj" fmla="val 2928"/>
            </a:avLst>
          </a:prstGeom>
          <a:solidFill>
            <a:srgbClr val="F4F6FB"/>
          </a:solidFill>
          <a:ln/>
        </p:spPr>
      </p:sp>
      <p:sp>
        <p:nvSpPr>
          <p:cNvPr id="14" name="Shape 12"/>
          <p:cNvSpPr/>
          <p:nvPr/>
        </p:nvSpPr>
        <p:spPr>
          <a:xfrm>
            <a:off x="6277356" y="1920240"/>
            <a:ext cx="2498598" cy="109728"/>
          </a:xfrm>
          <a:prstGeom prst="roundRect">
            <a:avLst/>
          </a:prstGeom>
          <a:solidFill>
            <a:srgbClr val="B5791A"/>
          </a:solidFill>
          <a:ln/>
        </p:spPr>
      </p:sp>
      <p:sp>
        <p:nvSpPr>
          <p:cNvPr id="15" name="Text 13"/>
          <p:cNvSpPr txBox="1"/>
          <p:nvPr/>
        </p:nvSpPr>
        <p:spPr>
          <a:xfrm>
            <a:off x="6505956" y="2194560"/>
            <a:ext cx="2041398" cy="457200"/>
          </a:xfrm>
          <a:prstGeom prst="rect">
            <a:avLst/>
          </a:prstGeom>
          <a:noFill/>
          <a:ln/>
        </p:spPr>
        <p:txBody>
          <a:bodyPr wrap="square" lIns="0" tIns="0" rIns="0" bIns="0" rtlCol="0" anchor="ctr"/>
          <a:lstStyle/>
          <a:p>
            <a:pPr indent="0" marL="0">
              <a:buNone/>
            </a:pPr>
            <a:r>
              <a:rPr lang="en-US" sz="1500" b="1" dirty="0">
                <a:solidFill>
                  <a:srgbClr val="B5791A"/>
                </a:solidFill>
                <a:latin typeface="Calibri" pitchFamily="34" charset="0"/>
                <a:ea typeface="Calibri" pitchFamily="34" charset="-122"/>
                <a:cs typeface="Calibri" pitchFamily="34" charset="-120"/>
              </a:rPr>
              <a:t>4xx — Client Error</a:t>
            </a:r>
            <a:endParaRPr lang="en-US" sz="1500" dirty="0"/>
          </a:p>
        </p:txBody>
      </p:sp>
      <p:sp>
        <p:nvSpPr>
          <p:cNvPr id="16" name="Text 14"/>
          <p:cNvSpPr txBox="1"/>
          <p:nvPr/>
        </p:nvSpPr>
        <p:spPr>
          <a:xfrm>
            <a:off x="6505956"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400 Bad Request</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401 Unauthorized · 403 Forbidden</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404 Not Found</a:t>
            </a:r>
            <a:endParaRPr lang="en-US" sz="1250" dirty="0"/>
          </a:p>
        </p:txBody>
      </p:sp>
      <p:sp>
        <p:nvSpPr>
          <p:cNvPr id="17" name="Shape 15"/>
          <p:cNvSpPr/>
          <p:nvPr/>
        </p:nvSpPr>
        <p:spPr>
          <a:xfrm>
            <a:off x="9141714" y="1920240"/>
            <a:ext cx="2498598" cy="4206240"/>
          </a:xfrm>
          <a:prstGeom prst="roundRect">
            <a:avLst>
              <a:gd name="adj" fmla="val 2928"/>
            </a:avLst>
          </a:prstGeom>
          <a:solidFill>
            <a:srgbClr val="F4F6FB"/>
          </a:solidFill>
          <a:ln/>
        </p:spPr>
      </p:sp>
      <p:sp>
        <p:nvSpPr>
          <p:cNvPr id="18" name="Shape 16"/>
          <p:cNvSpPr/>
          <p:nvPr/>
        </p:nvSpPr>
        <p:spPr>
          <a:xfrm>
            <a:off x="9141714" y="1920240"/>
            <a:ext cx="2498598" cy="109728"/>
          </a:xfrm>
          <a:prstGeom prst="roundRect">
            <a:avLst/>
          </a:prstGeom>
          <a:solidFill>
            <a:srgbClr val="1E2761"/>
          </a:solidFill>
          <a:ln/>
        </p:spPr>
      </p:sp>
      <p:sp>
        <p:nvSpPr>
          <p:cNvPr id="19" name="Text 17"/>
          <p:cNvSpPr txBox="1"/>
          <p:nvPr/>
        </p:nvSpPr>
        <p:spPr>
          <a:xfrm>
            <a:off x="9370314"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5xx — Server Error</a:t>
            </a:r>
            <a:endParaRPr lang="en-US" sz="1500" dirty="0"/>
          </a:p>
        </p:txBody>
      </p:sp>
      <p:sp>
        <p:nvSpPr>
          <p:cNvPr id="20" name="Text 18"/>
          <p:cNvSpPr txBox="1"/>
          <p:nvPr/>
        </p:nvSpPr>
        <p:spPr>
          <a:xfrm>
            <a:off x="9370314"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500 Internal Server Error</a:t>
            </a:r>
            <a:endParaRPr lang="en-US" sz="1250" dirty="0"/>
          </a:p>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503 Service Unavailable</a:t>
            </a:r>
            <a:endParaRPr lang="en-US" sz="1250" dirty="0"/>
          </a:p>
        </p:txBody>
      </p:sp>
      <p:sp>
        <p:nvSpPr>
          <p:cNvPr id="22"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2.7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Anatomy of an HTTP Response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Status line — the status code plus a short reason phrase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Headers — metadata, e.g. Content-Type: application/json</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Body — the actual data, often JSON</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They've already seen one:  </a:t>
            </a:r>
            <a:pPr indent="0" marL="0">
              <a:buNone/>
            </a:pPr>
            <a:r>
              <a:rPr lang="en-US" sz="1300" dirty="0">
                <a:solidFill>
                  <a:srgbClr val="26314D"/>
                </a:solidFill>
                <a:latin typeface="Calibri" pitchFamily="34" charset="0"/>
                <a:ea typeface="Calibri" pitchFamily="34" charset="-122"/>
                <a:cs typeface="Calibri" pitchFamily="34" charset="-120"/>
              </a:rPr>
              <a:t>When you opened 127.0.0.1:8000 earlier and got your JSON message back, that response carried a 200 OK.</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2.8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Does a Backend Actually Do?</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420624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Business logic — “can this order be placed? is this discount valid?”</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Data persistence — saving and retrieving data so it survives after the request ends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Authentication &amp; authorization — “who are you, and what are you allowed to do?”</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Talking to other services — payment providers, email/SMS, other internal systems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Serving as the single source of truth — many frontends (web, iOS, Android) can share one backend</a:t>
            </a:r>
            <a:endParaRPr lang="en-US" sz="1700" dirty="0"/>
          </a:p>
        </p:txBody>
      </p:sp>
      <p:sp>
        <p:nvSpPr>
          <p:cNvPr id="7" name="Text 4"/>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2.9  ·  10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Layered Architecture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conceptual layers — inside one backend app</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Presentation layer     -&gt;  requests in, responses out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Business logic layer   -&gt;  the actual rules &amp; decisions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Data access layer      -&gt;  talks to the database</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This separation keeps code organized</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The HTTP-handling code doesn't need to know how the database works, and vice versa</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Students will feel this directly once they write their own modules later today</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2.9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Monolith vs. Microservices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5317236" cy="4434840"/>
          </a:xfrm>
          <a:prstGeom prst="roundRect">
            <a:avLst>
              <a:gd name="adj" fmla="val 1649"/>
            </a:avLst>
          </a:prstGeom>
          <a:solidFill>
            <a:srgbClr val="F4F6FB"/>
          </a:solidFill>
          <a:ln/>
        </p:spPr>
      </p:sp>
      <p:sp>
        <p:nvSpPr>
          <p:cNvPr id="6" name="Shape 4"/>
          <p:cNvSpPr/>
          <p:nvPr/>
        </p:nvSpPr>
        <p:spPr>
          <a:xfrm>
            <a:off x="822960" y="2057400"/>
            <a:ext cx="502920" cy="502920"/>
          </a:xfrm>
          <a:prstGeom prst="ellipse">
            <a:avLst/>
          </a:prstGeom>
          <a:solidFill>
            <a:srgbClr val="1E2761"/>
          </a:solidFill>
          <a:ln/>
        </p:spPr>
      </p:sp>
      <p:sp>
        <p:nvSpPr>
          <p:cNvPr id="7" name="Text 5"/>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463040" y="2057400"/>
            <a:ext cx="4128516" cy="50292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Monolith</a:t>
            </a:r>
            <a:endParaRPr lang="en-US" sz="1900" dirty="0"/>
          </a:p>
        </p:txBody>
      </p:sp>
      <p:sp>
        <p:nvSpPr>
          <p:cNvPr id="9" name="Text 7"/>
          <p:cNvSpPr txBox="1"/>
          <p:nvPr/>
        </p:nvSpPr>
        <p:spPr>
          <a:xfrm>
            <a:off x="822960" y="2743200"/>
            <a:ext cx="4768596" cy="33375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One single backend app handles everything: orders, users, payments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One codebase</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Simpler to build and deploy</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The natural choice for small teams — and for this course</a:t>
            </a:r>
            <a:endParaRPr lang="en-US" sz="1400" dirty="0"/>
          </a:p>
        </p:txBody>
      </p:sp>
      <p:sp>
        <p:nvSpPr>
          <p:cNvPr id="10" name="Shape 8"/>
          <p:cNvSpPr/>
          <p:nvPr/>
        </p:nvSpPr>
        <p:spPr>
          <a:xfrm>
            <a:off x="6323076" y="1783080"/>
            <a:ext cx="5317236" cy="4434840"/>
          </a:xfrm>
          <a:prstGeom prst="roundRect">
            <a:avLst>
              <a:gd name="adj" fmla="val 1649"/>
            </a:avLst>
          </a:prstGeom>
          <a:solidFill>
            <a:srgbClr val="F4F6FB"/>
          </a:solidFill>
          <a:ln/>
        </p:spPr>
      </p:sp>
      <p:sp>
        <p:nvSpPr>
          <p:cNvPr id="11" name="Shape 9"/>
          <p:cNvSpPr/>
          <p:nvPr/>
        </p:nvSpPr>
        <p:spPr>
          <a:xfrm>
            <a:off x="6597396" y="2057400"/>
            <a:ext cx="502920" cy="502920"/>
          </a:xfrm>
          <a:prstGeom prst="ellipse">
            <a:avLst/>
          </a:prstGeom>
          <a:solidFill>
            <a:srgbClr val="5C7FC9"/>
          </a:solidFill>
          <a:ln/>
        </p:spPr>
      </p:sp>
      <p:sp>
        <p:nvSpPr>
          <p:cNvPr id="12" name="Text 10"/>
          <p:cNvSpPr txBox="1"/>
          <p:nvPr/>
        </p:nvSpPr>
        <p:spPr>
          <a:xfrm>
            <a:off x="6597396"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a:t>
            </a:r>
            <a:endParaRPr lang="en-US" sz="2000" dirty="0"/>
          </a:p>
        </p:txBody>
      </p:sp>
      <p:sp>
        <p:nvSpPr>
          <p:cNvPr id="13" name="Text 11"/>
          <p:cNvSpPr txBox="1"/>
          <p:nvPr/>
        </p:nvSpPr>
        <p:spPr>
          <a:xfrm>
            <a:off x="7237476" y="2057400"/>
            <a:ext cx="4128516" cy="502920"/>
          </a:xfrm>
          <a:prstGeom prst="rect">
            <a:avLst/>
          </a:prstGeom>
          <a:noFill/>
          <a:ln/>
        </p:spPr>
        <p:txBody>
          <a:bodyPr wrap="square" lIns="0" tIns="0" rIns="0" bIns="0" rtlCol="0" anchor="ctr"/>
          <a:lstStyle/>
          <a:p>
            <a:pPr indent="0" marL="0">
              <a:buNone/>
            </a:pPr>
            <a:r>
              <a:rPr lang="en-US" sz="1900" b="1" dirty="0">
                <a:solidFill>
                  <a:srgbClr val="5C7FC9"/>
                </a:solidFill>
                <a:latin typeface="Cambria" pitchFamily="34" charset="0"/>
                <a:ea typeface="Cambria" pitchFamily="34" charset="-122"/>
                <a:cs typeface="Cambria" pitchFamily="34" charset="-120"/>
              </a:rPr>
              <a:t>Microservices</a:t>
            </a:r>
            <a:endParaRPr lang="en-US" sz="1900" dirty="0"/>
          </a:p>
        </p:txBody>
      </p:sp>
      <p:sp>
        <p:nvSpPr>
          <p:cNvPr id="14" name="Text 12"/>
          <p:cNvSpPr txBox="1"/>
          <p:nvPr/>
        </p:nvSpPr>
        <p:spPr>
          <a:xfrm>
            <a:off x="6597396" y="2743200"/>
            <a:ext cx="4768596" cy="33375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System split into small, independently deployable services</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An “orders service”, a “users service”, etc.</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Services talk to each other over the network</a:t>
            </a:r>
            <a:endParaRPr lang="en-US" sz="1400" dirty="0"/>
          </a:p>
          <a:p>
            <a:pPr marL="203200" indent="-203200">
              <a:spcAft>
                <a:spcPts val="1000"/>
              </a:spcAft>
              <a:buSzPct val="100000"/>
              <a:buChar char="●"/>
            </a:pPr>
            <a:r>
              <a:rPr lang="en-US" sz="1400" dirty="0">
                <a:solidFill>
                  <a:srgbClr val="26314D"/>
                </a:solidFill>
                <a:latin typeface="Calibri" pitchFamily="34" charset="0"/>
                <a:ea typeface="Calibri" pitchFamily="34" charset="-122"/>
                <a:cs typeface="Calibri" pitchFamily="34" charset="-120"/>
              </a:rPr>
              <a:t>More scalable for large teams, but more operational complexity</a:t>
            </a:r>
            <a:endParaRPr lang="en-US" sz="1400" dirty="0"/>
          </a:p>
        </p:txBody>
      </p:sp>
      <p:sp>
        <p:nvSpPr>
          <p:cNvPr id="16" name="Text 1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2.9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Python Fits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Python is one of several languages used to write the backend layer</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Django — a large, “batteries-included” framework, popular for content-heavy sites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Flask — a small, flexible “microframework”</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FastAPI — a modern framework built for APIs, with automatic validation and docs — what this course uses, and what you got a first taste of today</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Close the section with:  </a:t>
            </a:r>
            <a:pPr indent="0" marL="0">
              <a:buNone/>
            </a:pPr>
            <a:r>
              <a:rPr lang="en-US" sz="1300" dirty="0">
                <a:solidFill>
                  <a:srgbClr val="26314D"/>
                </a:solidFill>
                <a:latin typeface="Calibri" pitchFamily="34" charset="0"/>
                <a:ea typeface="Calibri" pitchFamily="34" charset="-122"/>
                <a:cs typeface="Calibri" pitchFamily="34" charset="-120"/>
              </a:rPr>
              <a:t>“Everything for the rest of this course exists to implement the server side of the diagram we just drew.”</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1188720"/>
            <a:ext cx="2286000" cy="2286000"/>
          </a:xfrm>
          <a:prstGeom prst="ellipse">
            <a:avLst/>
          </a:prstGeom>
          <a:solidFill>
            <a:srgbClr val="141A47"/>
          </a:solidFill>
          <a:ln/>
        </p:spPr>
      </p:sp>
      <p:sp>
        <p:nvSpPr>
          <p:cNvPr id="3" name="Text 1"/>
          <p:cNvSpPr txBox="1"/>
          <p:nvPr/>
        </p:nvSpPr>
        <p:spPr>
          <a:xfrm>
            <a:off x="4937760" y="1188720"/>
            <a:ext cx="2286000" cy="2286000"/>
          </a:xfrm>
          <a:prstGeom prst="rect">
            <a:avLst/>
          </a:prstGeom>
          <a:noFill/>
          <a:ln/>
        </p:spPr>
        <p:txBody>
          <a:bodyPr wrap="square" lIns="0" tIns="0" rIns="0" bIns="0" rtlCol="0" anchor="ctr"/>
          <a:lstStyle/>
          <a:p>
            <a:pPr algn="ctr" indent="0" marL="0">
              <a:buNone/>
            </a:pPr>
            <a:r>
              <a:rPr lang="en-US" sz="6000" dirty="0">
                <a:solidFill>
                  <a:srgbClr val="000000"/>
                </a:solidFill>
              </a:rPr>
              <a:t>☕</a:t>
            </a:r>
            <a:endParaRPr lang="en-US" sz="6000" dirty="0"/>
          </a:p>
        </p:txBody>
      </p:sp>
      <p:sp>
        <p:nvSpPr>
          <p:cNvPr id="4" name="Text 2"/>
          <p:cNvSpPr txBox="1"/>
          <p:nvPr/>
        </p:nvSpPr>
        <p:spPr>
          <a:xfrm>
            <a:off x="0" y="3749040"/>
            <a:ext cx="12188952"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BREAK</a:t>
            </a:r>
            <a:endParaRPr lang="en-US" sz="4400" dirty="0"/>
          </a:p>
        </p:txBody>
      </p:sp>
      <p:sp>
        <p:nvSpPr>
          <p:cNvPr id="5" name="Text 3"/>
          <p:cNvSpPr txBox="1"/>
          <p:nvPr/>
        </p:nvSpPr>
        <p:spPr>
          <a:xfrm>
            <a:off x="0" y="4526280"/>
            <a:ext cx="12188952" cy="45720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1:23 – 1:33   •   back in 10 minutes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4206240"/>
            <a:ext cx="3291840" cy="3291840"/>
          </a:xfrm>
          <a:prstGeom prst="ellipse">
            <a:avLst/>
          </a:prstGeom>
          <a:solidFill>
            <a:srgbClr val="141A47"/>
          </a:solidFill>
          <a:ln/>
        </p:spPr>
      </p:sp>
      <p:sp>
        <p:nvSpPr>
          <p:cNvPr id="3" name="Text 1"/>
          <p:cNvSpPr txBox="1"/>
          <p:nvPr/>
        </p:nvSpPr>
        <p:spPr>
          <a:xfrm>
            <a:off x="548640" y="822960"/>
            <a:ext cx="2743200" cy="1463040"/>
          </a:xfrm>
          <a:prstGeom prst="rect">
            <a:avLst/>
          </a:prstGeom>
          <a:noFill/>
          <a:ln/>
        </p:spPr>
        <p:txBody>
          <a:bodyPr wrap="square" lIns="0" tIns="0" rIns="0" bIns="0" rtlCol="0" anchor="ctr"/>
          <a:lstStyle/>
          <a:p>
            <a:pPr indent="0" marL="0">
              <a:buNone/>
            </a:pPr>
            <a:r>
              <a:rPr lang="en-US" sz="9000" b="1" dirty="0">
                <a:solidFill>
                  <a:srgbClr val="141A47"/>
                </a:solidFill>
                <a:latin typeface="Cambria" pitchFamily="34" charset="0"/>
                <a:ea typeface="Cambria" pitchFamily="34" charset="-122"/>
                <a:cs typeface="Cambria" pitchFamily="34" charset="-120"/>
              </a:rPr>
              <a:t>3</a:t>
            </a:r>
            <a:endParaRPr lang="en-US" sz="9000" dirty="0"/>
          </a:p>
        </p:txBody>
      </p:sp>
      <p:sp>
        <p:nvSpPr>
          <p:cNvPr id="4" name="Text 2"/>
          <p:cNvSpPr txBox="1"/>
          <p:nvPr/>
        </p:nvSpPr>
        <p:spPr>
          <a:xfrm>
            <a:off x="54864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Setting Up Your Python Environment</a:t>
            </a:r>
            <a:endParaRPr lang="en-US" sz="4000" dirty="0"/>
          </a:p>
        </p:txBody>
      </p:sp>
      <p:sp>
        <p:nvSpPr>
          <p:cNvPr id="5" name="Shape 3"/>
          <p:cNvSpPr/>
          <p:nvPr/>
        </p:nvSpPr>
        <p:spPr>
          <a:xfrm>
            <a:off x="548640" y="3520440"/>
            <a:ext cx="3291840" cy="502920"/>
          </a:xfrm>
          <a:prstGeom prst="rect">
            <a:avLst/>
          </a:prstGeom>
          <a:solidFill>
            <a:srgbClr val="E8A33D"/>
          </a:solidFill>
          <a:ln/>
        </p:spPr>
      </p:sp>
      <p:sp>
        <p:nvSpPr>
          <p:cNvPr id="6" name="Text 4"/>
          <p:cNvSpPr txBox="1"/>
          <p:nvPr/>
        </p:nvSpPr>
        <p:spPr>
          <a:xfrm>
            <a:off x="548640" y="3520440"/>
            <a:ext cx="3291840" cy="50292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1:33 – 2:14   •   41 MIN</a:t>
            </a:r>
            <a:endParaRPr lang="en-US" sz="1400" dirty="0"/>
          </a:p>
        </p:txBody>
      </p:sp>
      <p:sp>
        <p:nvSpPr>
          <p:cNvPr id="7" name="Shape 5"/>
          <p:cNvSpPr/>
          <p:nvPr/>
        </p:nvSpPr>
        <p:spPr>
          <a:xfrm>
            <a:off x="548640" y="4398264"/>
            <a:ext cx="128016" cy="128016"/>
          </a:xfrm>
          <a:prstGeom prst="ellipse">
            <a:avLst/>
          </a:prstGeom>
          <a:solidFill>
            <a:srgbClr val="CADCFC"/>
          </a:solidFill>
          <a:ln/>
        </p:spPr>
      </p:sp>
      <p:sp>
        <p:nvSpPr>
          <p:cNvPr id="8" name="Text 6"/>
          <p:cNvSpPr txBox="1"/>
          <p:nvPr/>
        </p:nvSpPr>
        <p:spPr>
          <a:xfrm>
            <a:off x="868680" y="4343400"/>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Terminal, Python &amp; virtual environments</a:t>
            </a:r>
            <a:endParaRPr lang="en-US" sz="1600" dirty="0"/>
          </a:p>
        </p:txBody>
      </p:sp>
      <p:sp>
        <p:nvSpPr>
          <p:cNvPr id="9" name="Shape 7"/>
          <p:cNvSpPr/>
          <p:nvPr/>
        </p:nvSpPr>
        <p:spPr>
          <a:xfrm>
            <a:off x="548640" y="4837176"/>
            <a:ext cx="128016" cy="128016"/>
          </a:xfrm>
          <a:prstGeom prst="ellipse">
            <a:avLst/>
          </a:prstGeom>
          <a:solidFill>
            <a:srgbClr val="CADCFC"/>
          </a:solidFill>
          <a:ln/>
        </p:spPr>
      </p:sp>
      <p:sp>
        <p:nvSpPr>
          <p:cNvPr id="10" name="Text 8"/>
          <p:cNvSpPr txBox="1"/>
          <p:nvPr/>
        </p:nvSpPr>
        <p:spPr>
          <a:xfrm>
            <a:off x="868680" y="4782312"/>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Package examples &amp; installing with pip</a:t>
            </a:r>
            <a:endParaRPr lang="en-US" sz="1600" dirty="0"/>
          </a:p>
        </p:txBody>
      </p:sp>
      <p:sp>
        <p:nvSpPr>
          <p:cNvPr id="11" name="Shape 9"/>
          <p:cNvSpPr/>
          <p:nvPr/>
        </p:nvSpPr>
        <p:spPr>
          <a:xfrm>
            <a:off x="548640" y="5276088"/>
            <a:ext cx="128016" cy="128016"/>
          </a:xfrm>
          <a:prstGeom prst="ellipse">
            <a:avLst/>
          </a:prstGeom>
          <a:solidFill>
            <a:srgbClr val="CADCFC"/>
          </a:solidFill>
          <a:ln/>
        </p:spPr>
      </p:sp>
      <p:sp>
        <p:nvSpPr>
          <p:cNvPr id="12" name="Text 10"/>
          <p:cNvSpPr txBox="1"/>
          <p:nvPr/>
        </p:nvSpPr>
        <p:spPr>
          <a:xfrm>
            <a:off x="868680" y="5221224"/>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Starting a new project from scratch</a:t>
            </a:r>
            <a:endParaRPr lang="en-US" sz="1600" dirty="0"/>
          </a:p>
        </p:txBody>
      </p:sp>
      <p:sp>
        <p:nvSpPr>
          <p:cNvPr id="13" name="Shape 11"/>
          <p:cNvSpPr/>
          <p:nvPr/>
        </p:nvSpPr>
        <p:spPr>
          <a:xfrm>
            <a:off x="548640" y="5715000"/>
            <a:ext cx="128016" cy="128016"/>
          </a:xfrm>
          <a:prstGeom prst="ellipse">
            <a:avLst/>
          </a:prstGeom>
          <a:solidFill>
            <a:srgbClr val="CADCFC"/>
          </a:solidFill>
          <a:ln/>
        </p:spPr>
      </p:sp>
      <p:sp>
        <p:nvSpPr>
          <p:cNvPr id="14" name="Text 12"/>
          <p:cNvSpPr txBox="1"/>
          <p:nvPr/>
        </p:nvSpPr>
        <p:spPr>
          <a:xfrm>
            <a:off x="868680" y="5660136"/>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Your first FastAPI project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3.1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Living in the Terminal</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terminal basics</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pwd            # print working directory ("where am I?")</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ls             # list files  (Windows: dir)</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cd folder_name # move into 'folder_name'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cd ..          # go up one directory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mkdir name     # create a new folder</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For backend work, the terminal is the primary tool</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It's how we run programs, manage environments, and eventually deploy servers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Windows: PowerShell / Windows Terminal</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macOS / Linux: Terminal app (zsh or bash)</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3.2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Checking &amp; Installing Python</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python --version</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or, on some systems: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python3 --version</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Confirm Python is installed before moving on</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Missing? python.org/downloads (or Microsoft Store on Windows)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Demo the install live rather than waiting for everyone</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3.3  ·  8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Virtual Environments?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A virtual environment is an isolated folder with its own Python interpreter copy and its own installed packages</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Every backend project should get its own — standard professional practice, not optional</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Python includes a built-in tool for this: the venv module (no extra install needed)</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Scenario to narrate:  </a:t>
            </a:r>
            <a:pPr indent="0" marL="0">
              <a:buNone/>
            </a:pPr>
            <a:r>
              <a:rPr lang="en-US" sz="1300" dirty="0">
                <a:solidFill>
                  <a:srgbClr val="26314D"/>
                </a:solidFill>
                <a:latin typeface="Calibri" pitchFamily="34" charset="0"/>
                <a:ea typeface="Calibri" pitchFamily="34" charset="-122"/>
                <a:cs typeface="Calibri" pitchFamily="34" charset="-120"/>
              </a:rPr>
              <a:t>Project A needs v1.0 of a package, Project B needs v2.0 of the same package. Installed globally, only one version can exist at a time — one install breaks the other project. A venv gives every project its own isolated set of packages.</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3.4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Creating &amp; Using a Virtual Environment</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1. Move into your project folder</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cd my_project</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2. Create a virtual environment named 'venv'</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python -m venv venv</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3. Activate it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source venv/bin/activate      # macOS / Linux</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venv\Scripts\Activate.ps1     # Windows PowerShell</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4. Deactivate when done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deactivate</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Once activated, (venv) appears in your prompt</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Every 'pip install' and 'python' command now uses this environment's isolated copy</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That isolation is the whole point</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3.5  ·  3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Examples of Packages You'll Download</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Text 3"/>
          <p:cNvSpPr txBox="1"/>
          <p:nvPr/>
        </p:nvSpPr>
        <p:spPr>
          <a:xfrm>
            <a:off x="548640" y="1783080"/>
            <a:ext cx="11091672" cy="3657600"/>
          </a:xfrm>
          <a:prstGeom prst="rect">
            <a:avLst/>
          </a:prstGeom>
          <a:noFill/>
          <a:ln/>
        </p:spPr>
        <p:txBody>
          <a:bodyPr wrap="square" lIns="0" tIns="0" rIns="0" bIns="0" rtlCol="0" anchor="t"/>
          <a:lstStyle/>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requests — send HTTP requests to other services or APIs (today's exercise)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python-dotenv — load secrets and config from a .env file instead of hard-coding them</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pytest — write and run automated tests (Week 3)</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fastapi &amp; uvicorn — build and run web APIs. You'll scaffold your first project today; deep dive next lecture</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sqlmodel — talk to a database from Python code (Week 3)</a:t>
            </a:r>
            <a:endParaRPr lang="en-US" sz="1700" dirty="0"/>
          </a:p>
          <a:p>
            <a:pPr marL="279400" indent="-279400">
              <a:lnSpc>
                <a:spcPts val="2400"/>
              </a:lnSpc>
              <a:spcAft>
                <a:spcPts val="1400"/>
              </a:spcAft>
              <a:buSzPct val="100000"/>
              <a:buChar char="●"/>
            </a:pPr>
            <a:r>
              <a:rPr lang="en-US" sz="1700" dirty="0">
                <a:solidFill>
                  <a:srgbClr val="26314D"/>
                </a:solidFill>
                <a:latin typeface="Calibri" pitchFamily="34" charset="0"/>
                <a:ea typeface="Calibri" pitchFamily="34" charset="-122"/>
                <a:cs typeface="Calibri" pitchFamily="34" charset="-120"/>
              </a:rPr>
              <a:t>black / ruff — auto-format and lint your code (Week 4)</a:t>
            </a:r>
            <a:endParaRPr lang="en-US" sz="1700" dirty="0"/>
          </a:p>
        </p:txBody>
      </p:sp>
      <p:sp>
        <p:nvSpPr>
          <p:cNvPr id="6" name="Shape 4"/>
          <p:cNvSpPr/>
          <p:nvPr/>
        </p:nvSpPr>
        <p:spPr>
          <a:xfrm>
            <a:off x="548640" y="5623560"/>
            <a:ext cx="11091672" cy="777240"/>
          </a:xfrm>
          <a:prstGeom prst="roundRect">
            <a:avLst>
              <a:gd name="adj" fmla="val 7059"/>
            </a:avLst>
          </a:prstGeom>
          <a:solidFill>
            <a:srgbClr val="FFF7E6"/>
          </a:solidFill>
          <a:ln/>
        </p:spPr>
      </p:sp>
      <p:sp>
        <p:nvSpPr>
          <p:cNvPr id="7" name="Shape 5"/>
          <p:cNvSpPr/>
          <p:nvPr/>
        </p:nvSpPr>
        <p:spPr>
          <a:xfrm>
            <a:off x="548640" y="5623560"/>
            <a:ext cx="64008" cy="777240"/>
          </a:xfrm>
          <a:prstGeom prst="rect">
            <a:avLst/>
          </a:prstGeom>
          <a:solidFill>
            <a:srgbClr val="E8A33D"/>
          </a:solidFill>
          <a:ln/>
        </p:spPr>
      </p:sp>
      <p:sp>
        <p:nvSpPr>
          <p:cNvPr id="8" name="Text 6"/>
          <p:cNvSpPr txBox="1"/>
          <p:nvPr/>
        </p:nvSpPr>
        <p:spPr>
          <a:xfrm>
            <a:off x="777240" y="5623560"/>
            <a:ext cx="10634472" cy="777240"/>
          </a:xfrm>
          <a:prstGeom prst="rect">
            <a:avLst/>
          </a:prstGeom>
          <a:noFill/>
          <a:ln/>
        </p:spPr>
        <p:txBody>
          <a:bodyPr wrap="square" lIns="0" tIns="0" rIns="0" bIns="0" rtlCol="0" anchor="ctr"/>
          <a:lstStyle/>
          <a:p>
            <a:pPr indent="0" marL="0">
              <a:buNone/>
            </a:pPr>
            <a:r>
              <a:rPr lang="en-US" sz="1300" b="1" dirty="0">
                <a:solidFill>
                  <a:srgbClr val="B5791A"/>
                </a:solidFill>
                <a:latin typeface="Calibri" pitchFamily="34" charset="0"/>
                <a:ea typeface="Calibri" pitchFamily="34" charset="-122"/>
                <a:cs typeface="Calibri" pitchFamily="34" charset="-120"/>
              </a:rPr>
              <a:t>Where these come from:  </a:t>
            </a:r>
            <a:pPr indent="0" marL="0">
              <a:buNone/>
            </a:pPr>
            <a:r>
              <a:rPr lang="en-US" sz="1300" dirty="0">
                <a:solidFill>
                  <a:srgbClr val="26314D"/>
                </a:solidFill>
                <a:latin typeface="Calibri" pitchFamily="34" charset="0"/>
                <a:ea typeface="Calibri" pitchFamily="34" charset="-122"/>
                <a:cs typeface="Calibri" pitchFamily="34" charset="-120"/>
              </a:rPr>
              <a:t>pypi.org — the Python Package Index — hosts 500,000+ packages. “pip install &lt;name&gt;” works for almost anything you'll ever need.</a:t>
            </a:r>
            <a:endParaRPr lang="en-US" sz="1300" dirty="0"/>
          </a:p>
        </p:txBody>
      </p:sp>
      <p:sp>
        <p:nvSpPr>
          <p:cNvPr id="10"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3.5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Installing Packages with pip</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terminal</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install requests           # install a package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list                       # see what's installed</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freeze &gt; requirements.txt  # save exact versions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install -r requirements.txt   # install from file</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pip downloads from PyPI (the Python Package Index)</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requirements.txt lets a project's dependencies travel with the code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It gets committed to Git; the venv folder itself does NOT</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3.7  ·  3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Starting a New Project From Scratch</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new project checklist</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mkdir project_name &amp;&amp; cd project_name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python -m venv venv</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source venv/bin/activate      # or venv\Scripts\Activate.ps1</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install &lt;packages&gt;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freeze &gt; requirements.txt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git init                      # optional, but recommended</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This is the exact routine you'll repeat at the start of every project</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Including the FastAPI project you're about to build</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3.8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Building Your First FastAPI App</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main.py</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pip install fastapi uvicorn</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main.py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from fastapi import FastAPI</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app = FastAPI()</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@app.get("/")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def read_root():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return {"message": "Hello, backend world!"}</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terminal:</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uvicorn main:app --reload</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fastapi defines your app; uvicorn actually runs it</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--reload restarts the server whenever you save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Visit 127.0.0.1:8000 — see your JSON message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Visit 127.0.0.1:8000/docs — FastAPI's automatic interactive docs</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1091672" cy="868680"/>
          </a:xfrm>
          <a:prstGeom prst="roundRect">
            <a:avLst>
              <a:gd name="adj" fmla="val 8421"/>
            </a:avLst>
          </a:prstGeom>
          <a:solidFill>
            <a:srgbClr val="1E2761"/>
          </a:solidFill>
          <a:ln/>
        </p:spPr>
      </p:sp>
      <p:sp>
        <p:nvSpPr>
          <p:cNvPr id="3" name="Shape 1"/>
          <p:cNvSpPr/>
          <p:nvPr/>
        </p:nvSpPr>
        <p:spPr>
          <a:xfrm>
            <a:off x="777240" y="685800"/>
            <a:ext cx="502920" cy="502920"/>
          </a:xfrm>
          <a:prstGeom prst="ellipse">
            <a:avLst/>
          </a:prstGeom>
          <a:solidFill>
            <a:srgbClr val="E8A33D"/>
          </a:solidFill>
          <a:ln/>
        </p:spPr>
      </p:sp>
      <p:sp>
        <p:nvSpPr>
          <p:cNvPr id="4" name="Text 2"/>
          <p:cNvSpPr txBox="1"/>
          <p:nvPr/>
        </p:nvSpPr>
        <p:spPr>
          <a:xfrm>
            <a:off x="777240" y="685800"/>
            <a:ext cx="502920" cy="502920"/>
          </a:xfrm>
          <a:prstGeom prst="rect">
            <a:avLst/>
          </a:prstGeom>
          <a:noFill/>
          <a:ln/>
        </p:spPr>
        <p:txBody>
          <a:bodyPr wrap="square" lIns="0" tIns="0" rIns="0" bIns="0" rtlCol="0" anchor="ctr"/>
          <a:lstStyle/>
          <a:p>
            <a:pPr algn="ctr" indent="0" marL="0">
              <a:buNone/>
            </a:pPr>
            <a:r>
              <a:rPr lang="en-US" sz="2200" b="1" dirty="0">
                <a:solidFill>
                  <a:srgbClr val="141A47"/>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63040" y="640080"/>
            <a:ext cx="73152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HANDS-ON EXERCISE 1</a:t>
            </a:r>
            <a:endParaRPr lang="en-US" sz="1200" dirty="0"/>
          </a:p>
        </p:txBody>
      </p:sp>
      <p:sp>
        <p:nvSpPr>
          <p:cNvPr id="6" name="Text 4"/>
          <p:cNvSpPr txBox="1"/>
          <p:nvPr/>
        </p:nvSpPr>
        <p:spPr>
          <a:xfrm>
            <a:off x="1463040" y="914400"/>
            <a:ext cx="77724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Virtual Environment — and Your First FastAPI App</a:t>
            </a:r>
            <a:endParaRPr lang="en-US" sz="2000" dirty="0"/>
          </a:p>
        </p:txBody>
      </p:sp>
      <p:sp>
        <p:nvSpPr>
          <p:cNvPr id="7" name="Shape 5"/>
          <p:cNvSpPr/>
          <p:nvPr/>
        </p:nvSpPr>
        <p:spPr>
          <a:xfrm>
            <a:off x="10268712" y="685800"/>
            <a:ext cx="1143000" cy="502920"/>
          </a:xfrm>
          <a:prstGeom prst="roundRect">
            <a:avLst>
              <a:gd name="adj" fmla="val 14545"/>
            </a:avLst>
          </a:prstGeom>
          <a:solidFill>
            <a:srgbClr val="141A47"/>
          </a:solidFill>
          <a:ln/>
        </p:spPr>
      </p:sp>
      <p:sp>
        <p:nvSpPr>
          <p:cNvPr id="8" name="Text 6"/>
          <p:cNvSpPr txBox="1"/>
          <p:nvPr/>
        </p:nvSpPr>
        <p:spPr>
          <a:xfrm>
            <a:off x="10268712" y="685800"/>
            <a:ext cx="1143000"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25 min</a:t>
            </a:r>
            <a:endParaRPr lang="en-US" sz="1300" dirty="0"/>
          </a:p>
        </p:txBody>
      </p:sp>
      <p:sp>
        <p:nvSpPr>
          <p:cNvPr id="9" name="Shape 7"/>
          <p:cNvSpPr/>
          <p:nvPr/>
        </p:nvSpPr>
        <p:spPr>
          <a:xfrm>
            <a:off x="548640" y="1719072"/>
            <a:ext cx="347472" cy="347472"/>
          </a:xfrm>
          <a:prstGeom prst="ellipse">
            <a:avLst/>
          </a:prstGeom>
          <a:solidFill>
            <a:srgbClr val="F4F6FB"/>
          </a:solidFill>
          <a:ln w="15875">
            <a:solidFill>
              <a:srgbClr val="5C7FC9"/>
            </a:solidFill>
            <a:prstDash val="solid"/>
          </a:ln>
        </p:spPr>
      </p:sp>
      <p:sp>
        <p:nvSpPr>
          <p:cNvPr id="10" name="Text 8"/>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051560" y="1691640"/>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A — create backend-course, set up + activate a venv, install requests</a:t>
            </a:r>
            <a:endParaRPr lang="en-US" sz="1450" dirty="0"/>
          </a:p>
        </p:txBody>
      </p:sp>
      <p:sp>
        <p:nvSpPr>
          <p:cNvPr id="12" name="Shape 10"/>
          <p:cNvSpPr/>
          <p:nvPr/>
        </p:nvSpPr>
        <p:spPr>
          <a:xfrm>
            <a:off x="548640" y="2322576"/>
            <a:ext cx="347472" cy="347472"/>
          </a:xfrm>
          <a:prstGeom prst="ellipse">
            <a:avLst/>
          </a:prstGeom>
          <a:solidFill>
            <a:srgbClr val="F4F6FB"/>
          </a:solidFill>
          <a:ln w="15875">
            <a:solidFill>
              <a:srgbClr val="5C7FC9"/>
            </a:solidFill>
            <a:prstDash val="solid"/>
          </a:ln>
        </p:spPr>
      </p:sp>
      <p:sp>
        <p:nvSpPr>
          <p:cNvPr id="13" name="Text 11"/>
          <p:cNvSpPr txBox="1"/>
          <p:nvPr/>
        </p:nvSpPr>
        <p:spPr>
          <a:xfrm>
            <a:off x="548640" y="23225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051560" y="2295144"/>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A — pip freeze &gt; requirements.txt, write &amp; run check.py (imports requests)</a:t>
            </a:r>
            <a:endParaRPr lang="en-US" sz="1450" dirty="0"/>
          </a:p>
        </p:txBody>
      </p:sp>
      <p:sp>
        <p:nvSpPr>
          <p:cNvPr id="15" name="Shape 13"/>
          <p:cNvSpPr/>
          <p:nvPr/>
        </p:nvSpPr>
        <p:spPr>
          <a:xfrm>
            <a:off x="548640" y="2926080"/>
            <a:ext cx="347472" cy="347472"/>
          </a:xfrm>
          <a:prstGeom prst="ellipse">
            <a:avLst/>
          </a:prstGeom>
          <a:solidFill>
            <a:srgbClr val="F4F6FB"/>
          </a:solidFill>
          <a:ln w="15875">
            <a:solidFill>
              <a:srgbClr val="5C7FC9"/>
            </a:solidFill>
            <a:prstDash val="solid"/>
          </a:ln>
        </p:spPr>
      </p:sp>
      <p:sp>
        <p:nvSpPr>
          <p:cNvPr id="16" name="Text 14"/>
          <p:cNvSpPr txBox="1"/>
          <p:nvPr/>
        </p:nvSpPr>
        <p:spPr>
          <a:xfrm>
            <a:off x="548640" y="2926080"/>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51560" y="2898648"/>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A — deactivate, re-run check.py, discuss with a neighbor why it fails</a:t>
            </a:r>
            <a:endParaRPr lang="en-US" sz="1450" dirty="0"/>
          </a:p>
        </p:txBody>
      </p:sp>
      <p:sp>
        <p:nvSpPr>
          <p:cNvPr id="18" name="Shape 16"/>
          <p:cNvSpPr/>
          <p:nvPr/>
        </p:nvSpPr>
        <p:spPr>
          <a:xfrm>
            <a:off x="548640" y="3529584"/>
            <a:ext cx="347472" cy="347472"/>
          </a:xfrm>
          <a:prstGeom prst="ellipse">
            <a:avLst/>
          </a:prstGeom>
          <a:solidFill>
            <a:srgbClr val="F4F6FB"/>
          </a:solidFill>
          <a:ln w="15875">
            <a:solidFill>
              <a:srgbClr val="5C7FC9"/>
            </a:solidFill>
            <a:prstDash val="solid"/>
          </a:ln>
        </p:spPr>
      </p:sp>
      <p:sp>
        <p:nvSpPr>
          <p:cNvPr id="19" name="Text 17"/>
          <p:cNvSpPr txBox="1"/>
          <p:nvPr/>
        </p:nvSpPr>
        <p:spPr>
          <a:xfrm>
            <a:off x="548640" y="352958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51560" y="3502152"/>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B — reactivate your venv, then install fastapi and uvicorn</a:t>
            </a:r>
            <a:endParaRPr lang="en-US" sz="1450" dirty="0"/>
          </a:p>
        </p:txBody>
      </p:sp>
      <p:sp>
        <p:nvSpPr>
          <p:cNvPr id="21" name="Shape 19"/>
          <p:cNvSpPr/>
          <p:nvPr/>
        </p:nvSpPr>
        <p:spPr>
          <a:xfrm>
            <a:off x="548640" y="4133088"/>
            <a:ext cx="347472" cy="347472"/>
          </a:xfrm>
          <a:prstGeom prst="ellipse">
            <a:avLst/>
          </a:prstGeom>
          <a:solidFill>
            <a:srgbClr val="F4F6FB"/>
          </a:solidFill>
          <a:ln w="15875">
            <a:solidFill>
              <a:srgbClr val="5C7FC9"/>
            </a:solidFill>
            <a:prstDash val="solid"/>
          </a:ln>
        </p:spPr>
      </p:sp>
      <p:sp>
        <p:nvSpPr>
          <p:cNvPr id="22" name="Text 20"/>
          <p:cNvSpPr txBox="1"/>
          <p:nvPr/>
        </p:nvSpPr>
        <p:spPr>
          <a:xfrm>
            <a:off x="548640" y="41330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051560" y="4105656"/>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B — create main.py with a GET / endpoint returning a JSON message</a:t>
            </a:r>
            <a:endParaRPr lang="en-US" sz="1450" dirty="0"/>
          </a:p>
        </p:txBody>
      </p:sp>
      <p:sp>
        <p:nvSpPr>
          <p:cNvPr id="24" name="Shape 22"/>
          <p:cNvSpPr/>
          <p:nvPr/>
        </p:nvSpPr>
        <p:spPr>
          <a:xfrm>
            <a:off x="548640" y="4736592"/>
            <a:ext cx="347472" cy="347472"/>
          </a:xfrm>
          <a:prstGeom prst="ellipse">
            <a:avLst/>
          </a:prstGeom>
          <a:solidFill>
            <a:srgbClr val="F4F6FB"/>
          </a:solidFill>
          <a:ln w="15875">
            <a:solidFill>
              <a:srgbClr val="5C7FC9"/>
            </a:solidFill>
            <a:prstDash val="solid"/>
          </a:ln>
        </p:spPr>
      </p:sp>
      <p:sp>
        <p:nvSpPr>
          <p:cNvPr id="25" name="Text 23"/>
          <p:cNvSpPr txBox="1"/>
          <p:nvPr/>
        </p:nvSpPr>
        <p:spPr>
          <a:xfrm>
            <a:off x="548640" y="473659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1051560" y="4709160"/>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Part B — run uvicorn main:app --reload, open 127.0.0.1:8000 and /docs</a:t>
            </a:r>
            <a:endParaRPr lang="en-US" sz="1450" dirty="0"/>
          </a:p>
        </p:txBody>
      </p:sp>
      <p:sp>
        <p:nvSpPr>
          <p:cNvPr id="27" name="Shape 25"/>
          <p:cNvSpPr/>
          <p:nvPr/>
        </p:nvSpPr>
        <p:spPr>
          <a:xfrm>
            <a:off x="548640" y="5404104"/>
            <a:ext cx="11091672" cy="731520"/>
          </a:xfrm>
          <a:prstGeom prst="roundRect">
            <a:avLst>
              <a:gd name="adj" fmla="val 7500"/>
            </a:avLst>
          </a:prstGeom>
          <a:solidFill>
            <a:srgbClr val="FFF7E6"/>
          </a:solidFill>
          <a:ln/>
        </p:spPr>
      </p:sp>
      <p:sp>
        <p:nvSpPr>
          <p:cNvPr id="28" name="Shape 26"/>
          <p:cNvSpPr/>
          <p:nvPr/>
        </p:nvSpPr>
        <p:spPr>
          <a:xfrm>
            <a:off x="548640" y="5404104"/>
            <a:ext cx="64008" cy="731520"/>
          </a:xfrm>
          <a:prstGeom prst="rect">
            <a:avLst/>
          </a:prstGeom>
          <a:solidFill>
            <a:srgbClr val="E8A33D"/>
          </a:solidFill>
          <a:ln/>
        </p:spPr>
      </p:sp>
      <p:sp>
        <p:nvSpPr>
          <p:cNvPr id="29" name="Text 27"/>
          <p:cNvSpPr txBox="1"/>
          <p:nvPr/>
        </p:nvSpPr>
        <p:spPr>
          <a:xfrm>
            <a:off x="777240" y="5404104"/>
            <a:ext cx="10634472" cy="731520"/>
          </a:xfrm>
          <a:prstGeom prst="rect">
            <a:avLst/>
          </a:prstGeom>
          <a:noFill/>
          <a:ln/>
        </p:spPr>
        <p:txBody>
          <a:bodyPr wrap="square" lIns="0" tIns="0" rIns="0" bIns="0" rtlCol="0" anchor="ctr"/>
          <a:lstStyle/>
          <a:p>
            <a:pPr indent="0" marL="0">
              <a:buNone/>
            </a:pPr>
            <a:r>
              <a:rPr lang="en-US" sz="1250" b="1" dirty="0">
                <a:solidFill>
                  <a:srgbClr val="B5791A"/>
                </a:solidFill>
                <a:latin typeface="Calibri" pitchFamily="34" charset="0"/>
                <a:ea typeface="Calibri" pitchFamily="34" charset="-122"/>
                <a:cs typeface="Calibri" pitchFamily="34" charset="-120"/>
              </a:rPr>
              <a:t>Stretch goal:  </a:t>
            </a:r>
            <a:pPr indent="0" marL="0">
              <a:buNone/>
            </a:pPr>
            <a:r>
              <a:rPr lang="en-US" sz="1250" dirty="0">
                <a:solidFill>
                  <a:srgbClr val="26314D"/>
                </a:solidFill>
                <a:latin typeface="Calibri" pitchFamily="34" charset="0"/>
                <a:ea typeface="Calibri" pitchFamily="34" charset="-122"/>
                <a:cs typeface="Calibri" pitchFamily="34" charset="-120"/>
              </a:rPr>
              <a:t>Add @app.get("/hello/{name}") for a personalized greeting — just copy, run, and see it work; we unpack the syntax next lecture. (Or revisit the venv stretch: rebuild venv/ from requirements.txt alone.)</a:t>
            </a:r>
            <a:endParaRPr lang="en-US" sz="1250" dirty="0"/>
          </a:p>
        </p:txBody>
      </p:sp>
      <p:sp>
        <p:nvSpPr>
          <p:cNvPr id="31" name="Text 28"/>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1188720"/>
            <a:ext cx="2286000" cy="2286000"/>
          </a:xfrm>
          <a:prstGeom prst="ellipse">
            <a:avLst/>
          </a:prstGeom>
          <a:solidFill>
            <a:srgbClr val="141A47"/>
          </a:solidFill>
          <a:ln/>
        </p:spPr>
      </p:sp>
      <p:sp>
        <p:nvSpPr>
          <p:cNvPr id="3" name="Text 1"/>
          <p:cNvSpPr txBox="1"/>
          <p:nvPr/>
        </p:nvSpPr>
        <p:spPr>
          <a:xfrm>
            <a:off x="4937760" y="1188720"/>
            <a:ext cx="2286000" cy="2286000"/>
          </a:xfrm>
          <a:prstGeom prst="rect">
            <a:avLst/>
          </a:prstGeom>
          <a:noFill/>
          <a:ln/>
        </p:spPr>
        <p:txBody>
          <a:bodyPr wrap="square" lIns="0" tIns="0" rIns="0" bIns="0" rtlCol="0" anchor="ctr"/>
          <a:lstStyle/>
          <a:p>
            <a:pPr algn="ctr" indent="0" marL="0">
              <a:buNone/>
            </a:pPr>
            <a:r>
              <a:rPr lang="en-US" sz="6000" dirty="0">
                <a:solidFill>
                  <a:srgbClr val="000000"/>
                </a:solidFill>
              </a:rPr>
              <a:t>☕</a:t>
            </a:r>
            <a:endParaRPr lang="en-US" sz="6000" dirty="0"/>
          </a:p>
        </p:txBody>
      </p:sp>
      <p:sp>
        <p:nvSpPr>
          <p:cNvPr id="4" name="Text 2"/>
          <p:cNvSpPr txBox="1"/>
          <p:nvPr/>
        </p:nvSpPr>
        <p:spPr>
          <a:xfrm>
            <a:off x="0" y="3749040"/>
            <a:ext cx="12188952"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BREAK</a:t>
            </a:r>
            <a:endParaRPr lang="en-US" sz="4400" dirty="0"/>
          </a:p>
        </p:txBody>
      </p:sp>
      <p:sp>
        <p:nvSpPr>
          <p:cNvPr id="5" name="Text 3"/>
          <p:cNvSpPr txBox="1"/>
          <p:nvPr/>
        </p:nvSpPr>
        <p:spPr>
          <a:xfrm>
            <a:off x="0" y="4526280"/>
            <a:ext cx="12188952" cy="45720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2:39 – 2:49   •   back in 10 minutes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4206240"/>
            <a:ext cx="3291840" cy="3291840"/>
          </a:xfrm>
          <a:prstGeom prst="ellipse">
            <a:avLst/>
          </a:prstGeom>
          <a:solidFill>
            <a:srgbClr val="141A47"/>
          </a:solidFill>
          <a:ln/>
        </p:spPr>
      </p:sp>
      <p:sp>
        <p:nvSpPr>
          <p:cNvPr id="3" name="Text 1"/>
          <p:cNvSpPr txBox="1"/>
          <p:nvPr/>
        </p:nvSpPr>
        <p:spPr>
          <a:xfrm>
            <a:off x="548640" y="822960"/>
            <a:ext cx="2743200" cy="1463040"/>
          </a:xfrm>
          <a:prstGeom prst="rect">
            <a:avLst/>
          </a:prstGeom>
          <a:noFill/>
          <a:ln/>
        </p:spPr>
        <p:txBody>
          <a:bodyPr wrap="square" lIns="0" tIns="0" rIns="0" bIns="0" rtlCol="0" anchor="ctr"/>
          <a:lstStyle/>
          <a:p>
            <a:pPr indent="0" marL="0">
              <a:buNone/>
            </a:pPr>
            <a:r>
              <a:rPr lang="en-US" sz="9000" b="1" dirty="0">
                <a:solidFill>
                  <a:srgbClr val="141A47"/>
                </a:solidFill>
                <a:latin typeface="Cambria" pitchFamily="34" charset="0"/>
                <a:ea typeface="Cambria" pitchFamily="34" charset="-122"/>
                <a:cs typeface="Cambria" pitchFamily="34" charset="-120"/>
              </a:rPr>
              <a:t>4</a:t>
            </a:r>
            <a:endParaRPr lang="en-US" sz="9000" dirty="0"/>
          </a:p>
        </p:txBody>
      </p:sp>
      <p:sp>
        <p:nvSpPr>
          <p:cNvPr id="4" name="Text 2"/>
          <p:cNvSpPr txBox="1"/>
          <p:nvPr/>
        </p:nvSpPr>
        <p:spPr>
          <a:xfrm>
            <a:off x="54864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Modules and Packages</a:t>
            </a:r>
            <a:endParaRPr lang="en-US" sz="4000" dirty="0"/>
          </a:p>
        </p:txBody>
      </p:sp>
      <p:sp>
        <p:nvSpPr>
          <p:cNvPr id="5" name="Shape 3"/>
          <p:cNvSpPr/>
          <p:nvPr/>
        </p:nvSpPr>
        <p:spPr>
          <a:xfrm>
            <a:off x="548640" y="3520440"/>
            <a:ext cx="3291840" cy="502920"/>
          </a:xfrm>
          <a:prstGeom prst="rect">
            <a:avLst/>
          </a:prstGeom>
          <a:solidFill>
            <a:srgbClr val="E8A33D"/>
          </a:solidFill>
          <a:ln/>
        </p:spPr>
      </p:sp>
      <p:sp>
        <p:nvSpPr>
          <p:cNvPr id="6" name="Text 4"/>
          <p:cNvSpPr txBox="1"/>
          <p:nvPr/>
        </p:nvSpPr>
        <p:spPr>
          <a:xfrm>
            <a:off x="548640" y="3520440"/>
            <a:ext cx="3291840" cy="50292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2:49 – 3:19   •   30 MIN</a:t>
            </a:r>
            <a:endParaRPr lang="en-US" sz="1400" dirty="0"/>
          </a:p>
        </p:txBody>
      </p:sp>
      <p:sp>
        <p:nvSpPr>
          <p:cNvPr id="7" name="Shape 5"/>
          <p:cNvSpPr/>
          <p:nvPr/>
        </p:nvSpPr>
        <p:spPr>
          <a:xfrm>
            <a:off x="548640" y="4398264"/>
            <a:ext cx="128016" cy="128016"/>
          </a:xfrm>
          <a:prstGeom prst="ellipse">
            <a:avLst/>
          </a:prstGeom>
          <a:solidFill>
            <a:srgbClr val="CADCFC"/>
          </a:solidFill>
          <a:ln/>
        </p:spPr>
      </p:sp>
      <p:sp>
        <p:nvSpPr>
          <p:cNvPr id="8" name="Text 6"/>
          <p:cNvSpPr txBox="1"/>
          <p:nvPr/>
        </p:nvSpPr>
        <p:spPr>
          <a:xfrm>
            <a:off x="868680" y="4343400"/>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is a module?</a:t>
            </a:r>
            <a:endParaRPr lang="en-US" sz="1600" dirty="0"/>
          </a:p>
        </p:txBody>
      </p:sp>
      <p:sp>
        <p:nvSpPr>
          <p:cNvPr id="9" name="Shape 7"/>
          <p:cNvSpPr/>
          <p:nvPr/>
        </p:nvSpPr>
        <p:spPr>
          <a:xfrm>
            <a:off x="548640" y="4837176"/>
            <a:ext cx="128016" cy="128016"/>
          </a:xfrm>
          <a:prstGeom prst="ellipse">
            <a:avLst/>
          </a:prstGeom>
          <a:solidFill>
            <a:srgbClr val="CADCFC"/>
          </a:solidFill>
          <a:ln/>
        </p:spPr>
      </p:sp>
      <p:sp>
        <p:nvSpPr>
          <p:cNvPr id="10" name="Text 8"/>
          <p:cNvSpPr txBox="1"/>
          <p:nvPr/>
        </p:nvSpPr>
        <p:spPr>
          <a:xfrm>
            <a:off x="868680" y="4782312"/>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Built-in modules</a:t>
            </a:r>
            <a:endParaRPr lang="en-US" sz="1600" dirty="0"/>
          </a:p>
        </p:txBody>
      </p:sp>
      <p:sp>
        <p:nvSpPr>
          <p:cNvPr id="11" name="Shape 9"/>
          <p:cNvSpPr/>
          <p:nvPr/>
        </p:nvSpPr>
        <p:spPr>
          <a:xfrm>
            <a:off x="548640" y="5276088"/>
            <a:ext cx="128016" cy="128016"/>
          </a:xfrm>
          <a:prstGeom prst="ellipse">
            <a:avLst/>
          </a:prstGeom>
          <a:solidFill>
            <a:srgbClr val="CADCFC"/>
          </a:solidFill>
          <a:ln/>
        </p:spPr>
      </p:sp>
      <p:sp>
        <p:nvSpPr>
          <p:cNvPr id="12" name="Text 10"/>
          <p:cNvSpPr txBox="1"/>
          <p:nvPr/>
        </p:nvSpPr>
        <p:spPr>
          <a:xfrm>
            <a:off x="868680" y="5221224"/>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is a package?</a:t>
            </a:r>
            <a:endParaRPr lang="en-US" sz="1600" dirty="0"/>
          </a:p>
        </p:txBody>
      </p:sp>
      <p:sp>
        <p:nvSpPr>
          <p:cNvPr id="13" name="Shape 11"/>
          <p:cNvSpPr/>
          <p:nvPr/>
        </p:nvSpPr>
        <p:spPr>
          <a:xfrm>
            <a:off x="548640" y="5715000"/>
            <a:ext cx="128016" cy="128016"/>
          </a:xfrm>
          <a:prstGeom prst="ellipse">
            <a:avLst/>
          </a:prstGeom>
          <a:solidFill>
            <a:srgbClr val="CADCFC"/>
          </a:solidFill>
          <a:ln/>
        </p:spPr>
      </p:sp>
      <p:sp>
        <p:nvSpPr>
          <p:cNvPr id="14" name="Text 12"/>
          <p:cNvSpPr txBox="1"/>
          <p:nvPr/>
        </p:nvSpPr>
        <p:spPr>
          <a:xfrm>
            <a:off x="868680" y="5660136"/>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simple, sane project layout</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4.1  ·  8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 Module?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math_utils.py + main.py</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math_utils.py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def add(a, b):</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return a + b</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def square(x):</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return x * x</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main.py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math_utils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print(math_utils.add(2, 3))     # 5</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A module is simply a single .py file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Every file you've written today is already a module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import lets one file use code from another</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4.1  ·  CONTINUED</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Import Variants You'll See Everywhere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import styles</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math_utils             # math_utils.add(...)</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from math_utils import add    # add(...) directly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from math_utils import add, square  # multiple names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math_utils as mu       # shorter alias</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'import module' is easy to trace back to its source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'from module import name' is shorter, but can clash names in larger files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Both are used constantly in real projects</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4.2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Built-in Modules</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standard library</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os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print(os.getcwd())        # current working directory</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sys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print(sys.version)        # the running Python version</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math</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print(math.sqrt(16))      # 4.0</a:t>
            </a:r>
            <a:endParaRPr lang="en-US" sz="1250" dirty="0"/>
          </a:p>
          <a:p>
            <a:pPr indent="0" marL="0">
              <a:lnSpc>
                <a:spcPct val="115000"/>
              </a:lnSpc>
              <a:buNone/>
            </a:pP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import datetime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print(datetime.date.today())</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os — operating system: files, folders, paths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sys — interpreter-level info and behavior</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math — mathematical functions and constants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datetime — essential for almost every backend</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4.3  ·  7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a Package?</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my_app/  (folder structure)</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my_app/</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main.py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utils/              &lt;- this folder is a PACKAGE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__init__.py      &lt;- (can be empty) marks it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math_utils.py    &lt;- a MODULE inside it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string_utils.py  &lt;- another MODULE inside it</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A package is a folder of modules, treated as one importable unit</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Module = one file.  Package = a folder of modules</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This is exactly how larger backend projects are organized</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4.4  ·  5 MIN</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Simple, Sane Project Layout</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783080"/>
            <a:ext cx="6035040" cy="4480560"/>
          </a:xfrm>
          <a:prstGeom prst="roundRect">
            <a:avLst>
              <a:gd name="adj" fmla="val 1224"/>
            </a:avLst>
          </a:prstGeom>
          <a:solidFill>
            <a:srgbClr val="F2F2F2"/>
          </a:solidFill>
          <a:ln w="12700">
            <a:solidFill>
              <a:srgbClr val="D8DCE6"/>
            </a:solidFill>
            <a:prstDash val="solid"/>
          </a:ln>
        </p:spPr>
      </p:sp>
      <p:sp>
        <p:nvSpPr>
          <p:cNvPr id="6" name="Shape 4"/>
          <p:cNvSpPr/>
          <p:nvPr/>
        </p:nvSpPr>
        <p:spPr>
          <a:xfrm>
            <a:off x="548640" y="1783080"/>
            <a:ext cx="6035040" cy="365760"/>
          </a:xfrm>
          <a:prstGeom prst="roundRect">
            <a:avLst>
              <a:gd name="adj" fmla="val 15000"/>
            </a:avLst>
          </a:prstGeom>
          <a:solidFill>
            <a:srgbClr val="2D3561"/>
          </a:solidFill>
          <a:ln/>
        </p:spPr>
      </p:sp>
      <p:sp>
        <p:nvSpPr>
          <p:cNvPr id="7" name="Shape 5"/>
          <p:cNvSpPr/>
          <p:nvPr/>
        </p:nvSpPr>
        <p:spPr>
          <a:xfrm>
            <a:off x="548640" y="1965960"/>
            <a:ext cx="6035040" cy="182880"/>
          </a:xfrm>
          <a:prstGeom prst="rect">
            <a:avLst/>
          </a:prstGeom>
          <a:solidFill>
            <a:srgbClr val="2D3561"/>
          </a:solidFill>
          <a:ln/>
        </p:spPr>
      </p:sp>
      <p:sp>
        <p:nvSpPr>
          <p:cNvPr id="8" name="Text 6"/>
          <p:cNvSpPr txBox="1"/>
          <p:nvPr/>
        </p:nvSpPr>
        <p:spPr>
          <a:xfrm>
            <a:off x="713232" y="1783080"/>
            <a:ext cx="5705856" cy="365760"/>
          </a:xfrm>
          <a:prstGeom prst="rect">
            <a:avLst/>
          </a:prstGeom>
          <a:noFill/>
          <a:ln/>
        </p:spPr>
        <p:txBody>
          <a:bodyPr wrap="square" lIns="0" tIns="0" rIns="0" bIns="0" rtlCol="0" anchor="ctr"/>
          <a:lstStyle/>
          <a:p>
            <a:pPr indent="0" marL="0">
              <a:buNone/>
            </a:pPr>
            <a:r>
              <a:rPr lang="en-US" sz="1100" dirty="0">
                <a:solidFill>
                  <a:srgbClr val="CADCFC"/>
                </a:solidFill>
                <a:latin typeface="Consolas" pitchFamily="34" charset="0"/>
                <a:ea typeface="Consolas" pitchFamily="34" charset="-122"/>
                <a:cs typeface="Consolas" pitchFamily="34" charset="-120"/>
              </a:rPr>
              <a:t>backend-course/</a:t>
            </a:r>
            <a:endParaRPr lang="en-US" sz="1100" dirty="0"/>
          </a:p>
        </p:txBody>
      </p:sp>
      <p:sp>
        <p:nvSpPr>
          <p:cNvPr id="9" name="Text 7"/>
          <p:cNvSpPr txBox="1"/>
          <p:nvPr/>
        </p:nvSpPr>
        <p:spPr>
          <a:xfrm>
            <a:off x="713232" y="2240280"/>
            <a:ext cx="5705856" cy="3886200"/>
          </a:xfrm>
          <a:prstGeom prst="rect">
            <a:avLst/>
          </a:prstGeom>
          <a:noFill/>
          <a:ln/>
        </p:spPr>
        <p:txBody>
          <a:bodyPr wrap="square" lIns="0" tIns="0" rIns="0" bIns="0" rtlCol="0" anchor="t"/>
          <a:lstStyle/>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backend-course/</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venv/              &lt;- virtual env (not committed)</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requirements.txt   &lt;- dependency list</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main.py            &lt;- entry point, starts the app</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app/</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__init__.py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utils/</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__init__.py</a:t>
            </a:r>
            <a:endParaRPr lang="en-US" sz="1250" dirty="0"/>
          </a:p>
          <a:p>
            <a:pPr indent="0" marL="0">
              <a:lnSpc>
                <a:spcPct val="115000"/>
              </a:lnSpc>
              <a:buNone/>
            </a:pPr>
            <a:r>
              <a:rPr lang="en-US" sz="1250" dirty="0">
                <a:solidFill>
                  <a:srgbClr val="26314D"/>
                </a:solidFill>
                <a:latin typeface="Consolas" pitchFamily="34" charset="0"/>
                <a:ea typeface="Consolas" pitchFamily="34" charset="-122"/>
                <a:cs typeface="Consolas" pitchFamily="34" charset="-120"/>
              </a:rPr>
              <a:t>      |- helpers.py</a:t>
            </a:r>
            <a:endParaRPr lang="en-US" sz="1250" dirty="0"/>
          </a:p>
        </p:txBody>
      </p:sp>
      <p:sp>
        <p:nvSpPr>
          <p:cNvPr id="10" name="Text 8"/>
          <p:cNvSpPr txBox="1"/>
          <p:nvPr/>
        </p:nvSpPr>
        <p:spPr>
          <a:xfrm>
            <a:off x="6903720" y="1783080"/>
            <a:ext cx="4736592" cy="448056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This is the shape students will grow into over the course</a:t>
            </a:r>
            <a:endParaRPr lang="en-US" sz="1450" dirty="0"/>
          </a:p>
          <a:p>
            <a:pPr marL="228600" indent="-228600">
              <a:spcAft>
                <a:spcPts val="1200"/>
              </a:spcAft>
              <a:buSzPct val="100000"/>
              <a:buChar char="●"/>
            </a:pPr>
            <a:r>
              <a:rPr lang="en-US" sz="1450" dirty="0">
                <a:solidFill>
                  <a:srgbClr val="26314D"/>
                </a:solidFill>
                <a:latin typeface="Calibri" pitchFamily="34" charset="0"/>
                <a:ea typeface="Calibri" pitchFamily="34" charset="-122"/>
                <a:cs typeface="Calibri" pitchFamily="34" charset="-120"/>
              </a:rPr>
              <a:t>A routes/ package, a models/ package, a services/ package — coming in Week 2</a:t>
            </a:r>
            <a:endParaRPr lang="en-US" sz="1450" dirty="0"/>
          </a:p>
        </p:txBody>
      </p:sp>
      <p:sp>
        <p:nvSpPr>
          <p:cNvPr id="12" name="Text 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1091672" cy="868680"/>
          </a:xfrm>
          <a:prstGeom prst="roundRect">
            <a:avLst>
              <a:gd name="adj" fmla="val 8421"/>
            </a:avLst>
          </a:prstGeom>
          <a:solidFill>
            <a:srgbClr val="1E2761"/>
          </a:solidFill>
          <a:ln/>
        </p:spPr>
      </p:sp>
      <p:sp>
        <p:nvSpPr>
          <p:cNvPr id="3" name="Shape 1"/>
          <p:cNvSpPr/>
          <p:nvPr/>
        </p:nvSpPr>
        <p:spPr>
          <a:xfrm>
            <a:off x="777240" y="685800"/>
            <a:ext cx="502920" cy="502920"/>
          </a:xfrm>
          <a:prstGeom prst="ellipse">
            <a:avLst/>
          </a:prstGeom>
          <a:solidFill>
            <a:srgbClr val="E8A33D"/>
          </a:solidFill>
          <a:ln/>
        </p:spPr>
      </p:sp>
      <p:sp>
        <p:nvSpPr>
          <p:cNvPr id="4" name="Text 2"/>
          <p:cNvSpPr txBox="1"/>
          <p:nvPr/>
        </p:nvSpPr>
        <p:spPr>
          <a:xfrm>
            <a:off x="777240" y="685800"/>
            <a:ext cx="502920" cy="502920"/>
          </a:xfrm>
          <a:prstGeom prst="rect">
            <a:avLst/>
          </a:prstGeom>
          <a:noFill/>
          <a:ln/>
        </p:spPr>
        <p:txBody>
          <a:bodyPr wrap="square" lIns="0" tIns="0" rIns="0" bIns="0" rtlCol="0" anchor="ctr"/>
          <a:lstStyle/>
          <a:p>
            <a:pPr algn="ctr" indent="0" marL="0">
              <a:buNone/>
            </a:pPr>
            <a:r>
              <a:rPr lang="en-US" sz="2200" b="1" dirty="0">
                <a:solidFill>
                  <a:srgbClr val="141A47"/>
                </a:solidFill>
                <a:latin typeface="Cambria" pitchFamily="34" charset="0"/>
                <a:ea typeface="Cambria" pitchFamily="34" charset="-122"/>
                <a:cs typeface="Cambria" pitchFamily="34" charset="-120"/>
              </a:rPr>
              <a:t>2</a:t>
            </a:r>
            <a:endParaRPr lang="en-US" sz="2200" dirty="0"/>
          </a:p>
        </p:txBody>
      </p:sp>
      <p:sp>
        <p:nvSpPr>
          <p:cNvPr id="5" name="Text 3"/>
          <p:cNvSpPr txBox="1"/>
          <p:nvPr/>
        </p:nvSpPr>
        <p:spPr>
          <a:xfrm>
            <a:off x="1463040" y="640080"/>
            <a:ext cx="731520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HANDS-ON EXERCISE 2</a:t>
            </a:r>
            <a:endParaRPr lang="en-US" sz="1200" dirty="0"/>
          </a:p>
        </p:txBody>
      </p:sp>
      <p:sp>
        <p:nvSpPr>
          <p:cNvPr id="6" name="Text 4"/>
          <p:cNvSpPr txBox="1"/>
          <p:nvPr/>
        </p:nvSpPr>
        <p:spPr>
          <a:xfrm>
            <a:off x="1463040" y="914400"/>
            <a:ext cx="77724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Build a Mini Package</a:t>
            </a:r>
            <a:endParaRPr lang="en-US" sz="2000" dirty="0"/>
          </a:p>
        </p:txBody>
      </p:sp>
      <p:sp>
        <p:nvSpPr>
          <p:cNvPr id="7" name="Shape 5"/>
          <p:cNvSpPr/>
          <p:nvPr/>
        </p:nvSpPr>
        <p:spPr>
          <a:xfrm>
            <a:off x="10268712" y="685800"/>
            <a:ext cx="1143000" cy="502920"/>
          </a:xfrm>
          <a:prstGeom prst="roundRect">
            <a:avLst>
              <a:gd name="adj" fmla="val 14545"/>
            </a:avLst>
          </a:prstGeom>
          <a:solidFill>
            <a:srgbClr val="141A47"/>
          </a:solidFill>
          <a:ln/>
        </p:spPr>
      </p:sp>
      <p:sp>
        <p:nvSpPr>
          <p:cNvPr id="8" name="Text 6"/>
          <p:cNvSpPr txBox="1"/>
          <p:nvPr/>
        </p:nvSpPr>
        <p:spPr>
          <a:xfrm>
            <a:off x="10268712" y="685800"/>
            <a:ext cx="1143000" cy="502920"/>
          </a:xfrm>
          <a:prstGeom prst="rect">
            <a:avLst/>
          </a:prstGeom>
          <a:noFill/>
          <a:ln/>
        </p:spPr>
        <p:txBody>
          <a:bodyPr wrap="square" lIns="0" tIns="0" rIns="0" bIns="0" rtlCol="0" anchor="ctr"/>
          <a:lstStyle/>
          <a:p>
            <a:pPr algn="ctr" indent="0" marL="0">
              <a:buNone/>
            </a:pPr>
            <a:r>
              <a:rPr lang="en-US" sz="1300" b="1" dirty="0">
                <a:solidFill>
                  <a:srgbClr val="CADCFC"/>
                </a:solidFill>
                <a:latin typeface="Calibri" pitchFamily="34" charset="0"/>
                <a:ea typeface="Calibri" pitchFamily="34" charset="-122"/>
                <a:cs typeface="Calibri" pitchFamily="34" charset="-120"/>
              </a:rPr>
              <a:t>15 min</a:t>
            </a:r>
            <a:endParaRPr lang="en-US" sz="1300" dirty="0"/>
          </a:p>
        </p:txBody>
      </p:sp>
      <p:sp>
        <p:nvSpPr>
          <p:cNvPr id="9" name="Shape 7"/>
          <p:cNvSpPr/>
          <p:nvPr/>
        </p:nvSpPr>
        <p:spPr>
          <a:xfrm>
            <a:off x="548640" y="1719072"/>
            <a:ext cx="347472" cy="347472"/>
          </a:xfrm>
          <a:prstGeom prst="ellipse">
            <a:avLst/>
          </a:prstGeom>
          <a:solidFill>
            <a:srgbClr val="F4F6FB"/>
          </a:solidFill>
          <a:ln w="15875">
            <a:solidFill>
              <a:srgbClr val="5C7FC9"/>
            </a:solidFill>
            <a:prstDash val="solid"/>
          </a:ln>
        </p:spPr>
      </p:sp>
      <p:sp>
        <p:nvSpPr>
          <p:cNvPr id="10" name="Text 8"/>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051560" y="1691640"/>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Create a folder greetings/ with an empty __init__.py inside it</a:t>
            </a:r>
            <a:endParaRPr lang="en-US" sz="1450" dirty="0"/>
          </a:p>
        </p:txBody>
      </p:sp>
      <p:sp>
        <p:nvSpPr>
          <p:cNvPr id="12" name="Shape 10"/>
          <p:cNvSpPr/>
          <p:nvPr/>
        </p:nvSpPr>
        <p:spPr>
          <a:xfrm>
            <a:off x="548640" y="2322576"/>
            <a:ext cx="347472" cy="347472"/>
          </a:xfrm>
          <a:prstGeom prst="ellipse">
            <a:avLst/>
          </a:prstGeom>
          <a:solidFill>
            <a:srgbClr val="F4F6FB"/>
          </a:solidFill>
          <a:ln w="15875">
            <a:solidFill>
              <a:srgbClr val="5C7FC9"/>
            </a:solidFill>
            <a:prstDash val="solid"/>
          </a:ln>
        </p:spPr>
      </p:sp>
      <p:sp>
        <p:nvSpPr>
          <p:cNvPr id="13" name="Text 11"/>
          <p:cNvSpPr txBox="1"/>
          <p:nvPr/>
        </p:nvSpPr>
        <p:spPr>
          <a:xfrm>
            <a:off x="548640" y="23225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051560" y="2295144"/>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In greetings/, create polite.py with formal_greeting(name) -&gt; "Good day, {name}."</a:t>
            </a:r>
            <a:endParaRPr lang="en-US" sz="1450" dirty="0"/>
          </a:p>
        </p:txBody>
      </p:sp>
      <p:sp>
        <p:nvSpPr>
          <p:cNvPr id="15" name="Shape 13"/>
          <p:cNvSpPr/>
          <p:nvPr/>
        </p:nvSpPr>
        <p:spPr>
          <a:xfrm>
            <a:off x="548640" y="2926080"/>
            <a:ext cx="347472" cy="347472"/>
          </a:xfrm>
          <a:prstGeom prst="ellipse">
            <a:avLst/>
          </a:prstGeom>
          <a:solidFill>
            <a:srgbClr val="F4F6FB"/>
          </a:solidFill>
          <a:ln w="15875">
            <a:solidFill>
              <a:srgbClr val="5C7FC9"/>
            </a:solidFill>
            <a:prstDash val="solid"/>
          </a:ln>
        </p:spPr>
      </p:sp>
      <p:sp>
        <p:nvSpPr>
          <p:cNvPr id="16" name="Text 14"/>
          <p:cNvSpPr txBox="1"/>
          <p:nvPr/>
        </p:nvSpPr>
        <p:spPr>
          <a:xfrm>
            <a:off x="548640" y="2926080"/>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51560" y="2898648"/>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In greetings/, create casual.py with casual_greeting(name) -&gt; "Hey {name}!"</a:t>
            </a:r>
            <a:endParaRPr lang="en-US" sz="1450" dirty="0"/>
          </a:p>
        </p:txBody>
      </p:sp>
      <p:sp>
        <p:nvSpPr>
          <p:cNvPr id="18" name="Shape 16"/>
          <p:cNvSpPr/>
          <p:nvPr/>
        </p:nvSpPr>
        <p:spPr>
          <a:xfrm>
            <a:off x="548640" y="3529584"/>
            <a:ext cx="347472" cy="347472"/>
          </a:xfrm>
          <a:prstGeom prst="ellipse">
            <a:avLst/>
          </a:prstGeom>
          <a:solidFill>
            <a:srgbClr val="F4F6FB"/>
          </a:solidFill>
          <a:ln w="15875">
            <a:solidFill>
              <a:srgbClr val="5C7FC9"/>
            </a:solidFill>
            <a:prstDash val="solid"/>
          </a:ln>
        </p:spPr>
      </p:sp>
      <p:sp>
        <p:nvSpPr>
          <p:cNvPr id="19" name="Text 17"/>
          <p:cNvSpPr txBox="1"/>
          <p:nvPr/>
        </p:nvSpPr>
        <p:spPr>
          <a:xfrm>
            <a:off x="548640" y="352958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51560" y="3502152"/>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In a new top-level app.py, import both functions and call each with your name</a:t>
            </a:r>
            <a:endParaRPr lang="en-US" sz="1450" dirty="0"/>
          </a:p>
        </p:txBody>
      </p:sp>
      <p:sp>
        <p:nvSpPr>
          <p:cNvPr id="21" name="Shape 19"/>
          <p:cNvSpPr/>
          <p:nvPr/>
        </p:nvSpPr>
        <p:spPr>
          <a:xfrm>
            <a:off x="548640" y="4133088"/>
            <a:ext cx="347472" cy="347472"/>
          </a:xfrm>
          <a:prstGeom prst="ellipse">
            <a:avLst/>
          </a:prstGeom>
          <a:solidFill>
            <a:srgbClr val="F4F6FB"/>
          </a:solidFill>
          <a:ln w="15875">
            <a:solidFill>
              <a:srgbClr val="5C7FC9"/>
            </a:solidFill>
            <a:prstDash val="solid"/>
          </a:ln>
        </p:spPr>
      </p:sp>
      <p:sp>
        <p:nvSpPr>
          <p:cNvPr id="22" name="Text 20"/>
          <p:cNvSpPr txBox="1"/>
          <p:nvPr/>
        </p:nvSpPr>
        <p:spPr>
          <a:xfrm>
            <a:off x="548640" y="413308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051560" y="4105656"/>
            <a:ext cx="10588752" cy="566928"/>
          </a:xfrm>
          <a:prstGeom prst="rect">
            <a:avLst/>
          </a:prstGeom>
          <a:noFill/>
          <a:ln/>
        </p:spPr>
        <p:txBody>
          <a:bodyPr wrap="square" lIns="0" tIns="0" rIns="0" bIns="0" rtlCol="0" anchor="ctr"/>
          <a:lstStyle/>
          <a:p>
            <a:pPr indent="0" marL="0">
              <a:buNone/>
            </a:pPr>
            <a:r>
              <a:rPr lang="en-US" sz="1450" dirty="0">
                <a:solidFill>
                  <a:srgbClr val="26314D"/>
                </a:solidFill>
                <a:latin typeface="Calibri" pitchFamily="34" charset="0"/>
                <a:ea typeface="Calibri" pitchFamily="34" charset="-122"/>
                <a:cs typeface="Calibri" pitchFamily="34" charset="-120"/>
              </a:rPr>
              <a:t>Try both import styles and confirm both work</a:t>
            </a:r>
            <a:endParaRPr lang="en-US" sz="1450" dirty="0"/>
          </a:p>
        </p:txBody>
      </p:sp>
      <p:sp>
        <p:nvSpPr>
          <p:cNvPr id="24" name="Shape 22"/>
          <p:cNvSpPr/>
          <p:nvPr/>
        </p:nvSpPr>
        <p:spPr>
          <a:xfrm>
            <a:off x="548640" y="4800600"/>
            <a:ext cx="11091672" cy="731520"/>
          </a:xfrm>
          <a:prstGeom prst="roundRect">
            <a:avLst>
              <a:gd name="adj" fmla="val 7500"/>
            </a:avLst>
          </a:prstGeom>
          <a:solidFill>
            <a:srgbClr val="FFF7E6"/>
          </a:solidFill>
          <a:ln/>
        </p:spPr>
      </p:sp>
      <p:sp>
        <p:nvSpPr>
          <p:cNvPr id="25" name="Shape 23"/>
          <p:cNvSpPr/>
          <p:nvPr/>
        </p:nvSpPr>
        <p:spPr>
          <a:xfrm>
            <a:off x="548640" y="4800600"/>
            <a:ext cx="64008" cy="731520"/>
          </a:xfrm>
          <a:prstGeom prst="rect">
            <a:avLst/>
          </a:prstGeom>
          <a:solidFill>
            <a:srgbClr val="E8A33D"/>
          </a:solidFill>
          <a:ln/>
        </p:spPr>
      </p:sp>
      <p:sp>
        <p:nvSpPr>
          <p:cNvPr id="26" name="Text 24"/>
          <p:cNvSpPr txBox="1"/>
          <p:nvPr/>
        </p:nvSpPr>
        <p:spPr>
          <a:xfrm>
            <a:off x="777240" y="4800600"/>
            <a:ext cx="10634472" cy="731520"/>
          </a:xfrm>
          <a:prstGeom prst="rect">
            <a:avLst/>
          </a:prstGeom>
          <a:noFill/>
          <a:ln/>
        </p:spPr>
        <p:txBody>
          <a:bodyPr wrap="square" lIns="0" tIns="0" rIns="0" bIns="0" rtlCol="0" anchor="ctr"/>
          <a:lstStyle/>
          <a:p>
            <a:pPr indent="0" marL="0">
              <a:buNone/>
            </a:pPr>
            <a:r>
              <a:rPr lang="en-US" sz="1250" b="1" dirty="0">
                <a:solidFill>
                  <a:srgbClr val="B5791A"/>
                </a:solidFill>
                <a:latin typeface="Calibri" pitchFamily="34" charset="0"/>
                <a:ea typeface="Calibri" pitchFamily="34" charset="-122"/>
                <a:cs typeface="Calibri" pitchFamily="34" charset="-120"/>
              </a:rPr>
              <a:t>Stretch goal:  </a:t>
            </a:r>
            <a:pPr indent="0" marL="0">
              <a:buNone/>
            </a:pPr>
            <a:r>
              <a:rPr lang="en-US" sz="1250" dirty="0">
                <a:solidFill>
                  <a:srgbClr val="26314D"/>
                </a:solidFill>
                <a:latin typeface="Calibri" pitchFamily="34" charset="0"/>
                <a:ea typeface="Calibri" pitchFamily="34" charset="-122"/>
                <a:cs typeface="Calibri" pitchFamily="34" charset="-120"/>
              </a:rPr>
              <a:t>Add greetings/random_greeting.py that imports both modules and randomly picks a style using random.choice.</a:t>
            </a:r>
            <a:endParaRPr lang="en-US" sz="1250" dirty="0"/>
          </a:p>
        </p:txBody>
      </p:sp>
      <p:sp>
        <p:nvSpPr>
          <p:cNvPr id="28" name="Text 2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4206240"/>
            <a:ext cx="3291840" cy="3291840"/>
          </a:xfrm>
          <a:prstGeom prst="ellipse">
            <a:avLst/>
          </a:prstGeom>
          <a:solidFill>
            <a:srgbClr val="141A47"/>
          </a:solidFill>
          <a:ln/>
        </p:spPr>
      </p:sp>
      <p:sp>
        <p:nvSpPr>
          <p:cNvPr id="3" name="Text 1"/>
          <p:cNvSpPr txBox="1"/>
          <p:nvPr/>
        </p:nvSpPr>
        <p:spPr>
          <a:xfrm>
            <a:off x="548640" y="822960"/>
            <a:ext cx="2743200" cy="1463040"/>
          </a:xfrm>
          <a:prstGeom prst="rect">
            <a:avLst/>
          </a:prstGeom>
          <a:noFill/>
          <a:ln/>
        </p:spPr>
        <p:txBody>
          <a:bodyPr wrap="square" lIns="0" tIns="0" rIns="0" bIns="0" rtlCol="0" anchor="ctr"/>
          <a:lstStyle/>
          <a:p>
            <a:pPr indent="0" marL="0">
              <a:buNone/>
            </a:pPr>
            <a:r>
              <a:rPr lang="en-US" sz="9000" b="1" dirty="0">
                <a:solidFill>
                  <a:srgbClr val="141A47"/>
                </a:solidFill>
                <a:latin typeface="Cambria" pitchFamily="34" charset="0"/>
                <a:ea typeface="Cambria" pitchFamily="34" charset="-122"/>
                <a:cs typeface="Cambria" pitchFamily="34" charset="-120"/>
              </a:rPr>
              <a:t>5</a:t>
            </a:r>
            <a:endParaRPr lang="en-US" sz="9000" dirty="0"/>
          </a:p>
        </p:txBody>
      </p:sp>
      <p:sp>
        <p:nvSpPr>
          <p:cNvPr id="4" name="Text 2"/>
          <p:cNvSpPr txBox="1"/>
          <p:nvPr/>
        </p:nvSpPr>
        <p:spPr>
          <a:xfrm>
            <a:off x="54864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Recap, Q&amp;A &amp; What's Next</a:t>
            </a:r>
            <a:endParaRPr lang="en-US" sz="4000" dirty="0"/>
          </a:p>
        </p:txBody>
      </p:sp>
      <p:sp>
        <p:nvSpPr>
          <p:cNvPr id="5" name="Shape 3"/>
          <p:cNvSpPr/>
          <p:nvPr/>
        </p:nvSpPr>
        <p:spPr>
          <a:xfrm>
            <a:off x="548640" y="3520440"/>
            <a:ext cx="3291840" cy="502920"/>
          </a:xfrm>
          <a:prstGeom prst="rect">
            <a:avLst/>
          </a:prstGeom>
          <a:solidFill>
            <a:srgbClr val="E8A33D"/>
          </a:solidFill>
          <a:ln/>
        </p:spPr>
      </p:sp>
      <p:sp>
        <p:nvSpPr>
          <p:cNvPr id="6" name="Text 4"/>
          <p:cNvSpPr txBox="1"/>
          <p:nvPr/>
        </p:nvSpPr>
        <p:spPr>
          <a:xfrm>
            <a:off x="548640" y="3520440"/>
            <a:ext cx="3291840" cy="502920"/>
          </a:xfrm>
          <a:prstGeom prst="rect">
            <a:avLst/>
          </a:prstGeom>
          <a:noFill/>
          <a:ln/>
        </p:spPr>
        <p:txBody>
          <a:bodyPr wrap="square" lIns="0" tIns="0" rIns="0" bIns="0" rtlCol="0" anchor="ctr"/>
          <a:lstStyle/>
          <a:p>
            <a:pPr algn="ctr" indent="0" marL="0">
              <a:buNone/>
            </a:pPr>
            <a:r>
              <a:rPr lang="en-US" sz="1400" b="1" dirty="0">
                <a:solidFill>
                  <a:srgbClr val="141A47"/>
                </a:solidFill>
                <a:latin typeface="Calibri" pitchFamily="34" charset="0"/>
                <a:ea typeface="Calibri" pitchFamily="34" charset="-122"/>
                <a:cs typeface="Calibri" pitchFamily="34" charset="-120"/>
              </a:rPr>
              <a:t>3:34 – 3:49   •   15 MIN</a:t>
            </a:r>
            <a:endParaRPr lang="en-US" sz="1400" dirty="0"/>
          </a:p>
        </p:txBody>
      </p:sp>
      <p:sp>
        <p:nvSpPr>
          <p:cNvPr id="7" name="Shape 5"/>
          <p:cNvSpPr/>
          <p:nvPr/>
        </p:nvSpPr>
        <p:spPr>
          <a:xfrm>
            <a:off x="548640" y="4398264"/>
            <a:ext cx="128016" cy="128016"/>
          </a:xfrm>
          <a:prstGeom prst="ellipse">
            <a:avLst/>
          </a:prstGeom>
          <a:solidFill>
            <a:srgbClr val="CADCFC"/>
          </a:solidFill>
          <a:ln/>
        </p:spPr>
      </p:sp>
      <p:sp>
        <p:nvSpPr>
          <p:cNvPr id="8" name="Text 6"/>
          <p:cNvSpPr txBox="1"/>
          <p:nvPr/>
        </p:nvSpPr>
        <p:spPr>
          <a:xfrm>
            <a:off x="868680" y="4343400"/>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Recap the learning objectives</a:t>
            </a:r>
            <a:endParaRPr lang="en-US" sz="1600" dirty="0"/>
          </a:p>
        </p:txBody>
      </p:sp>
      <p:sp>
        <p:nvSpPr>
          <p:cNvPr id="9" name="Shape 7"/>
          <p:cNvSpPr/>
          <p:nvPr/>
        </p:nvSpPr>
        <p:spPr>
          <a:xfrm>
            <a:off x="548640" y="4837176"/>
            <a:ext cx="128016" cy="128016"/>
          </a:xfrm>
          <a:prstGeom prst="ellipse">
            <a:avLst/>
          </a:prstGeom>
          <a:solidFill>
            <a:srgbClr val="CADCFC"/>
          </a:solidFill>
          <a:ln/>
        </p:spPr>
      </p:sp>
      <p:sp>
        <p:nvSpPr>
          <p:cNvPr id="10" name="Text 8"/>
          <p:cNvSpPr txBox="1"/>
          <p:nvPr/>
        </p:nvSpPr>
        <p:spPr>
          <a:xfrm>
            <a:off x="868680" y="4782312"/>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Open Q&amp;A</a:t>
            </a:r>
            <a:endParaRPr lang="en-US" sz="1600" dirty="0"/>
          </a:p>
        </p:txBody>
      </p:sp>
      <p:sp>
        <p:nvSpPr>
          <p:cNvPr id="11" name="Shape 9"/>
          <p:cNvSpPr/>
          <p:nvPr/>
        </p:nvSpPr>
        <p:spPr>
          <a:xfrm>
            <a:off x="548640" y="5276088"/>
            <a:ext cx="128016" cy="128016"/>
          </a:xfrm>
          <a:prstGeom prst="ellipse">
            <a:avLst/>
          </a:prstGeom>
          <a:solidFill>
            <a:srgbClr val="CADCFC"/>
          </a:solidFill>
          <a:ln/>
        </p:spPr>
      </p:sp>
      <p:sp>
        <p:nvSpPr>
          <p:cNvPr id="12" name="Text 10"/>
          <p:cNvSpPr txBox="1"/>
          <p:nvPr/>
        </p:nvSpPr>
        <p:spPr>
          <a:xfrm>
            <a:off x="868680" y="5221224"/>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Preview: Lecture 2</a:t>
            </a:r>
            <a:endParaRPr lang="en-US" sz="1600" dirty="0"/>
          </a:p>
        </p:txBody>
      </p:sp>
      <p:sp>
        <p:nvSpPr>
          <p:cNvPr id="13" name="Shape 11"/>
          <p:cNvSpPr/>
          <p:nvPr/>
        </p:nvSpPr>
        <p:spPr>
          <a:xfrm>
            <a:off x="548640" y="5715000"/>
            <a:ext cx="128016" cy="128016"/>
          </a:xfrm>
          <a:prstGeom prst="ellipse">
            <a:avLst/>
          </a:prstGeom>
          <a:solidFill>
            <a:srgbClr val="CADCFC"/>
          </a:solidFill>
          <a:ln/>
        </p:spPr>
      </p:sp>
      <p:sp>
        <p:nvSpPr>
          <p:cNvPr id="14" name="Text 12"/>
          <p:cNvSpPr txBox="1"/>
          <p:nvPr/>
        </p:nvSpPr>
        <p:spPr>
          <a:xfrm>
            <a:off x="868680" y="5660136"/>
            <a:ext cx="86868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This week's assignment</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65760"/>
          </a:xfrm>
          <a:prstGeom prst="rect">
            <a:avLst/>
          </a:prstGeom>
          <a:noFill/>
          <a:ln/>
        </p:spPr>
        <p:txBody>
          <a:bodyPr wrap="square" lIns="0" tIns="0" rIns="0" bIns="0" rtlCol="0" anchor="ctr"/>
          <a:lstStyle/>
          <a:p>
            <a:pPr indent="0" marL="0">
              <a:buNone/>
            </a:pPr>
            <a:r>
              <a:rPr lang="en-US" sz="1300" b="1" spc="200" kern="0" dirty="0">
                <a:solidFill>
                  <a:srgbClr val="5C7FC9"/>
                </a:solidFill>
                <a:latin typeface="Calibri" pitchFamily="34" charset="0"/>
                <a:ea typeface="Calibri" pitchFamily="34" charset="-122"/>
                <a:cs typeface="Calibri" pitchFamily="34" charset="-120"/>
              </a:rPr>
              <a:t>5.2  ·  COMMON QUESTIONS</a:t>
            </a:r>
            <a:endParaRPr lang="en-US" sz="13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Open Q&amp;A — Be Ready For</a:t>
            </a:r>
            <a:endParaRPr lang="en-US" sz="3000" dirty="0"/>
          </a:p>
        </p:txBody>
      </p:sp>
      <p:sp>
        <p:nvSpPr>
          <p:cNvPr id="4" name="Shape 2"/>
          <p:cNvSpPr/>
          <p:nvPr/>
        </p:nvSpPr>
        <p:spPr>
          <a:xfrm>
            <a:off x="548640" y="1481328"/>
            <a:ext cx="11091672" cy="0"/>
          </a:xfrm>
          <a:prstGeom prst="line">
            <a:avLst/>
          </a:prstGeom>
          <a:noFill/>
          <a:ln w="12700">
            <a:solidFill>
              <a:srgbClr val="E3E7F0"/>
            </a:solidFill>
            <a:prstDash val="solid"/>
          </a:ln>
        </p:spPr>
      </p:sp>
      <p:sp>
        <p:nvSpPr>
          <p:cNvPr id="5" name="Shape 3"/>
          <p:cNvSpPr/>
          <p:nvPr/>
        </p:nvSpPr>
        <p:spPr>
          <a:xfrm>
            <a:off x="548640" y="1920240"/>
            <a:ext cx="2498598" cy="4206240"/>
          </a:xfrm>
          <a:prstGeom prst="roundRect">
            <a:avLst>
              <a:gd name="adj" fmla="val 2928"/>
            </a:avLst>
          </a:prstGeom>
          <a:solidFill>
            <a:srgbClr val="F4F6FB"/>
          </a:solidFill>
          <a:ln/>
        </p:spPr>
      </p:sp>
      <p:sp>
        <p:nvSpPr>
          <p:cNvPr id="6" name="Shape 4"/>
          <p:cNvSpPr/>
          <p:nvPr/>
        </p:nvSpPr>
        <p:spPr>
          <a:xfrm>
            <a:off x="548640" y="1920240"/>
            <a:ext cx="2498598" cy="109728"/>
          </a:xfrm>
          <a:prstGeom prst="roundRect">
            <a:avLst/>
          </a:prstGeom>
          <a:solidFill>
            <a:srgbClr val="1E2761"/>
          </a:solidFill>
          <a:ln/>
        </p:spPr>
      </p:sp>
      <p:sp>
        <p:nvSpPr>
          <p:cNvPr id="7" name="Text 5"/>
          <p:cNvSpPr txBox="1"/>
          <p:nvPr/>
        </p:nvSpPr>
        <p:spPr>
          <a:xfrm>
            <a:off x="777240"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“Do I activate the venv every time?”</a:t>
            </a:r>
            <a:endParaRPr lang="en-US" sz="1500" dirty="0"/>
          </a:p>
        </p:txBody>
      </p:sp>
      <p:sp>
        <p:nvSpPr>
          <p:cNvPr id="8" name="Text 6"/>
          <p:cNvSpPr txBox="1"/>
          <p:nvPr/>
        </p:nvSpPr>
        <p:spPr>
          <a:xfrm>
            <a:off x="777240"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Yes — every new terminal session, for every project</a:t>
            </a:r>
            <a:endParaRPr lang="en-US" sz="1250" dirty="0"/>
          </a:p>
        </p:txBody>
      </p:sp>
      <p:sp>
        <p:nvSpPr>
          <p:cNvPr id="9" name="Shape 7"/>
          <p:cNvSpPr/>
          <p:nvPr/>
        </p:nvSpPr>
        <p:spPr>
          <a:xfrm>
            <a:off x="3412998" y="1920240"/>
            <a:ext cx="2498598" cy="4206240"/>
          </a:xfrm>
          <a:prstGeom prst="roundRect">
            <a:avLst>
              <a:gd name="adj" fmla="val 2928"/>
            </a:avLst>
          </a:prstGeom>
          <a:solidFill>
            <a:srgbClr val="F4F6FB"/>
          </a:solidFill>
          <a:ln/>
        </p:spPr>
      </p:sp>
      <p:sp>
        <p:nvSpPr>
          <p:cNvPr id="10" name="Shape 8"/>
          <p:cNvSpPr/>
          <p:nvPr/>
        </p:nvSpPr>
        <p:spPr>
          <a:xfrm>
            <a:off x="3412998" y="1920240"/>
            <a:ext cx="2498598" cy="109728"/>
          </a:xfrm>
          <a:prstGeom prst="roundRect">
            <a:avLst/>
          </a:prstGeom>
          <a:solidFill>
            <a:srgbClr val="5C7FC9"/>
          </a:solidFill>
          <a:ln/>
        </p:spPr>
      </p:sp>
      <p:sp>
        <p:nvSpPr>
          <p:cNvPr id="11" name="Text 9"/>
          <p:cNvSpPr txBox="1"/>
          <p:nvPr/>
        </p:nvSpPr>
        <p:spPr>
          <a:xfrm>
            <a:off x="3641598" y="2194560"/>
            <a:ext cx="2041398" cy="457200"/>
          </a:xfrm>
          <a:prstGeom prst="rect">
            <a:avLst/>
          </a:prstGeom>
          <a:noFill/>
          <a:ln/>
        </p:spPr>
        <p:txBody>
          <a:bodyPr wrap="square" lIns="0" tIns="0" rIns="0" bIns="0" rtlCol="0" anchor="ctr"/>
          <a:lstStyle/>
          <a:p>
            <a:pPr indent="0" marL="0">
              <a:buNone/>
            </a:pPr>
            <a:r>
              <a:rPr lang="en-US" sz="1500" b="1" dirty="0">
                <a:solidFill>
                  <a:srgbClr val="5C7FC9"/>
                </a:solidFill>
                <a:latin typeface="Calibri" pitchFamily="34" charset="0"/>
                <a:ea typeface="Calibri" pitchFamily="34" charset="-122"/>
                <a:cs typeface="Calibri" pitchFamily="34" charset="-120"/>
              </a:rPr>
              <a:t>“Why not just install globally?”</a:t>
            </a:r>
            <a:endParaRPr lang="en-US" sz="1500" dirty="0"/>
          </a:p>
        </p:txBody>
      </p:sp>
      <p:sp>
        <p:nvSpPr>
          <p:cNvPr id="12" name="Text 10"/>
          <p:cNvSpPr txBox="1"/>
          <p:nvPr/>
        </p:nvSpPr>
        <p:spPr>
          <a:xfrm>
            <a:off x="3641598"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Revisit the version-conflict scenario from section 3.3</a:t>
            </a:r>
            <a:endParaRPr lang="en-US" sz="1250" dirty="0"/>
          </a:p>
        </p:txBody>
      </p:sp>
      <p:sp>
        <p:nvSpPr>
          <p:cNvPr id="13" name="Shape 11"/>
          <p:cNvSpPr/>
          <p:nvPr/>
        </p:nvSpPr>
        <p:spPr>
          <a:xfrm>
            <a:off x="6277356" y="1920240"/>
            <a:ext cx="2498598" cy="4206240"/>
          </a:xfrm>
          <a:prstGeom prst="roundRect">
            <a:avLst>
              <a:gd name="adj" fmla="val 2928"/>
            </a:avLst>
          </a:prstGeom>
          <a:solidFill>
            <a:srgbClr val="F4F6FB"/>
          </a:solidFill>
          <a:ln/>
        </p:spPr>
      </p:sp>
      <p:sp>
        <p:nvSpPr>
          <p:cNvPr id="14" name="Shape 12"/>
          <p:cNvSpPr/>
          <p:nvPr/>
        </p:nvSpPr>
        <p:spPr>
          <a:xfrm>
            <a:off x="6277356" y="1920240"/>
            <a:ext cx="2498598" cy="109728"/>
          </a:xfrm>
          <a:prstGeom prst="roundRect">
            <a:avLst/>
          </a:prstGeom>
          <a:solidFill>
            <a:srgbClr val="B5791A"/>
          </a:solidFill>
          <a:ln/>
        </p:spPr>
      </p:sp>
      <p:sp>
        <p:nvSpPr>
          <p:cNvPr id="15" name="Text 13"/>
          <p:cNvSpPr txBox="1"/>
          <p:nvPr/>
        </p:nvSpPr>
        <p:spPr>
          <a:xfrm>
            <a:off x="6505956" y="2194560"/>
            <a:ext cx="2041398" cy="457200"/>
          </a:xfrm>
          <a:prstGeom prst="rect">
            <a:avLst/>
          </a:prstGeom>
          <a:noFill/>
          <a:ln/>
        </p:spPr>
        <p:txBody>
          <a:bodyPr wrap="square" lIns="0" tIns="0" rIns="0" bIns="0" rtlCol="0" anchor="ctr"/>
          <a:lstStyle/>
          <a:p>
            <a:pPr indent="0" marL="0">
              <a:buNone/>
            </a:pPr>
            <a:r>
              <a:rPr lang="en-US" sz="1500" b="1" dirty="0">
                <a:solidFill>
                  <a:srgbClr val="B5791A"/>
                </a:solidFill>
                <a:latin typeface="Calibri" pitchFamily="34" charset="0"/>
                <a:ea typeface="Calibri" pitchFamily="34" charset="-122"/>
                <a:cs typeface="Calibri" pitchFamily="34" charset="-120"/>
              </a:rPr>
              <a:t>“Is __init__.py always required?”</a:t>
            </a:r>
            <a:endParaRPr lang="en-US" sz="1500" dirty="0"/>
          </a:p>
        </p:txBody>
      </p:sp>
      <p:sp>
        <p:nvSpPr>
          <p:cNvPr id="16" name="Text 14"/>
          <p:cNvSpPr txBox="1"/>
          <p:nvPr/>
        </p:nvSpPr>
        <p:spPr>
          <a:xfrm>
            <a:off x="6505956"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Not strictly in modern Python — but keep using it, it's the convention you'll see everywhere, including FastAPI</a:t>
            </a:r>
            <a:endParaRPr lang="en-US" sz="1250" dirty="0"/>
          </a:p>
        </p:txBody>
      </p:sp>
      <p:sp>
        <p:nvSpPr>
          <p:cNvPr id="17" name="Shape 15"/>
          <p:cNvSpPr/>
          <p:nvPr/>
        </p:nvSpPr>
        <p:spPr>
          <a:xfrm>
            <a:off x="9141714" y="1920240"/>
            <a:ext cx="2498598" cy="4206240"/>
          </a:xfrm>
          <a:prstGeom prst="roundRect">
            <a:avLst>
              <a:gd name="adj" fmla="val 2928"/>
            </a:avLst>
          </a:prstGeom>
          <a:solidFill>
            <a:srgbClr val="F4F6FB"/>
          </a:solidFill>
          <a:ln/>
        </p:spPr>
      </p:sp>
      <p:sp>
        <p:nvSpPr>
          <p:cNvPr id="18" name="Shape 16"/>
          <p:cNvSpPr/>
          <p:nvPr/>
        </p:nvSpPr>
        <p:spPr>
          <a:xfrm>
            <a:off x="9141714" y="1920240"/>
            <a:ext cx="2498598" cy="109728"/>
          </a:xfrm>
          <a:prstGeom prst="roundRect">
            <a:avLst/>
          </a:prstGeom>
          <a:solidFill>
            <a:srgbClr val="1E2761"/>
          </a:solidFill>
          <a:ln/>
        </p:spPr>
      </p:sp>
      <p:sp>
        <p:nvSpPr>
          <p:cNvPr id="19" name="Text 17"/>
          <p:cNvSpPr txBox="1"/>
          <p:nvPr/>
        </p:nvSpPr>
        <p:spPr>
          <a:xfrm>
            <a:off x="9370314" y="2194560"/>
            <a:ext cx="2041398"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“Aren't we not touching FastAPI until next week?”</a:t>
            </a:r>
            <a:endParaRPr lang="en-US" sz="1500" dirty="0"/>
          </a:p>
        </p:txBody>
      </p:sp>
      <p:sp>
        <p:nvSpPr>
          <p:cNvPr id="20" name="Text 18"/>
          <p:cNvSpPr txBox="1"/>
          <p:nvPr/>
        </p:nvSpPr>
        <p:spPr>
          <a:xfrm>
            <a:off x="9370314" y="2743200"/>
            <a:ext cx="2041398" cy="32918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6314D"/>
                </a:solidFill>
                <a:latin typeface="Calibri" pitchFamily="34" charset="0"/>
                <a:ea typeface="Calibri" pitchFamily="34" charset="-122"/>
                <a:cs typeface="Calibri" pitchFamily="34" charset="-120"/>
              </a:rPr>
              <a:t>Today was deliberately procedural — install, write, run, see it respond. We didn't explain how the code works — that's next lecture</a:t>
            </a:r>
            <a:endParaRPr lang="en-US" sz="1250" dirty="0"/>
          </a:p>
        </p:txBody>
      </p:sp>
      <p:sp>
        <p:nvSpPr>
          <p:cNvPr id="22"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Backend Course — Week 1 · Lecture 1</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41A47"/>
          </a:solidFill>
          <a:ln/>
        </p:spPr>
      </p:sp>
      <p:sp>
        <p:nvSpPr>
          <p:cNvPr id="3" name="Text 1"/>
          <p:cNvSpPr txBox="1"/>
          <p:nvPr/>
        </p:nvSpPr>
        <p:spPr>
          <a:xfrm>
            <a:off x="548640" y="82296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What's Next</a:t>
            </a:r>
            <a:endParaRPr lang="en-US" sz="4000" dirty="0"/>
          </a:p>
        </p:txBody>
      </p:sp>
      <p:sp>
        <p:nvSpPr>
          <p:cNvPr id="4" name="Text 2"/>
          <p:cNvSpPr txBox="1"/>
          <p:nvPr/>
        </p:nvSpPr>
        <p:spPr>
          <a:xfrm>
            <a:off x="548640" y="1691640"/>
            <a:ext cx="960120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Week 1, Lecture 2 — and this week's assignment</a:t>
            </a:r>
            <a:endParaRPr lang="en-US" sz="1800" dirty="0"/>
          </a:p>
        </p:txBody>
      </p:sp>
      <p:sp>
        <p:nvSpPr>
          <p:cNvPr id="5" name="Shape 3"/>
          <p:cNvSpPr/>
          <p:nvPr/>
        </p:nvSpPr>
        <p:spPr>
          <a:xfrm>
            <a:off x="548640" y="2606040"/>
            <a:ext cx="11091672" cy="868680"/>
          </a:xfrm>
          <a:prstGeom prst="roundRect">
            <a:avLst>
              <a:gd name="adj" fmla="val 8421"/>
            </a:avLst>
          </a:prstGeom>
          <a:solidFill>
            <a:srgbClr val="141A47"/>
          </a:solidFill>
          <a:ln/>
        </p:spPr>
      </p:sp>
      <p:sp>
        <p:nvSpPr>
          <p:cNvPr id="6" name="Text 4"/>
          <p:cNvSpPr txBox="1"/>
          <p:nvPr/>
        </p:nvSpPr>
        <p:spPr>
          <a:xfrm>
            <a:off x="822960" y="2697480"/>
            <a:ext cx="10543032" cy="320040"/>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Lecture 2: OOP &amp; Functional Programming</a:t>
            </a:r>
            <a:endParaRPr lang="en-US" sz="1500" dirty="0"/>
          </a:p>
        </p:txBody>
      </p:sp>
      <p:sp>
        <p:nvSpPr>
          <p:cNvPr id="7" name="Text 5"/>
          <p:cNvSpPr txBox="1"/>
          <p:nvPr/>
        </p:nvSpPr>
        <p:spPr>
          <a:xfrm>
            <a:off x="822960" y="3017520"/>
            <a:ext cx="10543032" cy="384048"/>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Classes, objects, inheritance, encapsulation, functions, lambdas. The modules and packages you organized code into today are about to get their contents organized too — into classes and objects.</a:t>
            </a:r>
            <a:endParaRPr lang="en-US" sz="1350" dirty="0"/>
          </a:p>
        </p:txBody>
      </p:sp>
      <p:sp>
        <p:nvSpPr>
          <p:cNvPr id="8" name="Shape 6"/>
          <p:cNvSpPr/>
          <p:nvPr/>
        </p:nvSpPr>
        <p:spPr>
          <a:xfrm>
            <a:off x="548640" y="3657600"/>
            <a:ext cx="11091672" cy="868680"/>
          </a:xfrm>
          <a:prstGeom prst="roundRect">
            <a:avLst>
              <a:gd name="adj" fmla="val 8421"/>
            </a:avLst>
          </a:prstGeom>
          <a:solidFill>
            <a:srgbClr val="141A47"/>
          </a:solidFill>
          <a:ln/>
        </p:spPr>
      </p:sp>
      <p:sp>
        <p:nvSpPr>
          <p:cNvPr id="9" name="Text 7"/>
          <p:cNvSpPr txBox="1"/>
          <p:nvPr/>
        </p:nvSpPr>
        <p:spPr>
          <a:xfrm>
            <a:off x="822960" y="3749040"/>
            <a:ext cx="10543032" cy="320040"/>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Assignment</a:t>
            </a:r>
            <a:endParaRPr lang="en-US" sz="1500" dirty="0"/>
          </a:p>
        </p:txBody>
      </p:sp>
      <p:sp>
        <p:nvSpPr>
          <p:cNvPr id="10" name="Text 8"/>
          <p:cNvSpPr txBox="1"/>
          <p:nvPr/>
        </p:nvSpPr>
        <p:spPr>
          <a:xfrm>
            <a:off x="822960" y="4069080"/>
            <a:ext cx="10543032" cy="384048"/>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Practical exercises covering Python structure, OOP, and functional programming (issued after Lecture 2). Keep your backend-course folder and venv — you'll build directly on it.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2026-08-28T18:35:46Z</dcterms:created>
  <dcterms:modified xsi:type="dcterms:W3CDTF">2026-08-28T18:35:46Z</dcterms:modified>
</cp:coreProperties>
</file>